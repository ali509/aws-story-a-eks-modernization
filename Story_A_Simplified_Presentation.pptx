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2bcb6ace0a440a" /><Relationship Type="http://schemas.openxmlformats.org/officeDocument/2006/relationships/extended-properties" Target="/docProps/app.xml" Id="Rce7145e0b15945e0" /><Relationship Type="http://schemas.openxmlformats.org/officeDocument/2006/relationships/officeDocument" Target="/ppt/presentation.xml" Id="R2531de3b6fc144d2" /></Relationships>
</file>

<file path=ppt/presentation.xml><?xml version="1.0" encoding="utf-8"?>
<p:presentation xmlns:p="http://schemas.openxmlformats.org/presentationml/2006/main">
  <p:sldMasterIdLst>
    <p:sldMasterId xmlns:r="http://schemas.openxmlformats.org/officeDocument/2006/relationships" id="2147483648" r:id="R5a06dd9aaac04137"/>
  </p:sldMasterIdLst>
  <p:notesMasterIdLst>
    <p:notesMasterId xmlns:r="http://schemas.openxmlformats.org/officeDocument/2006/relationships" r:id="Rfa7a8948ff304063"/>
  </p:notesMasterIdLst>
  <p:sldIdLst>
    <p:sldId xmlns:r="http://schemas.openxmlformats.org/officeDocument/2006/relationships" id="256" r:id="R63e1924795d5422a"/>
    <p:sldId xmlns:r="http://schemas.openxmlformats.org/officeDocument/2006/relationships" id="257" r:id="R7fc29b61862e4fcc"/>
    <p:sldId xmlns:r="http://schemas.openxmlformats.org/officeDocument/2006/relationships" id="258" r:id="R946b7ce117df4625"/>
    <p:sldId xmlns:r="http://schemas.openxmlformats.org/officeDocument/2006/relationships" id="259" r:id="Rb2a5a51b9fb147a5"/>
    <p:sldId xmlns:r="http://schemas.openxmlformats.org/officeDocument/2006/relationships" id="260" r:id="R5266f0db869544ec"/>
    <p:sldId xmlns:r="http://schemas.openxmlformats.org/officeDocument/2006/relationships" id="261" r:id="Rd4a98eeba0924f12"/>
    <p:sldId xmlns:r="http://schemas.openxmlformats.org/officeDocument/2006/relationships" id="262" r:id="Rde5551ba889b4fdc"/>
    <p:sldId xmlns:r="http://schemas.openxmlformats.org/officeDocument/2006/relationships" id="263" r:id="R5d125d5620a7481d"/>
    <p:sldId xmlns:r="http://schemas.openxmlformats.org/officeDocument/2006/relationships" id="264" r:id="Rae96876222c748a8"/>
    <p:sldId xmlns:r="http://schemas.openxmlformats.org/officeDocument/2006/relationships" id="265" r:id="Rbbc8ae478bec4fa7"/>
    <p:sldId xmlns:r="http://schemas.openxmlformats.org/officeDocument/2006/relationships" id="266" r:id="R80ea4a6dd6e74486"/>
    <p:sldId xmlns:r="http://schemas.openxmlformats.org/officeDocument/2006/relationships" id="267" r:id="R6e9110cca99c4b77"/>
    <p:sldId xmlns:r="http://schemas.openxmlformats.org/officeDocument/2006/relationships" id="268" r:id="R22d1abcee394409a"/>
    <p:sldId xmlns:r="http://schemas.openxmlformats.org/officeDocument/2006/relationships" id="269" r:id="R67bdc6f2c42c4c9e"/>
    <p:sldId xmlns:r="http://schemas.openxmlformats.org/officeDocument/2006/relationships" id="270" r:id="Rb97a16ba2a7e4c81"/>
    <p:sldId xmlns:r="http://schemas.openxmlformats.org/officeDocument/2006/relationships" id="271" r:id="R6e5d120ddcb34434"/>
    <p:sldId xmlns:r="http://schemas.openxmlformats.org/officeDocument/2006/relationships" id="272" r:id="Rce0413ec2826430d"/>
    <p:sldId xmlns:r="http://schemas.openxmlformats.org/officeDocument/2006/relationships" id="273" r:id="R5c921251c21249cf"/>
    <p:sldId xmlns:r="http://schemas.openxmlformats.org/officeDocument/2006/relationships" id="274" r:id="R6905655eea024c28"/>
    <p:sldId xmlns:r="http://schemas.openxmlformats.org/officeDocument/2006/relationships" id="275" r:id="R47aa865a2e394d03"/>
    <p:sldId xmlns:r="http://schemas.openxmlformats.org/officeDocument/2006/relationships" id="276" r:id="R940af0628d8549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b8a9754cba4913" /><Relationship Type="http://schemas.openxmlformats.org/officeDocument/2006/relationships/slideMaster" Target="/ppt/slideMasters/slideMaster1.xml" Id="R5a06dd9aaac04137" /><Relationship Type="http://schemas.openxmlformats.org/officeDocument/2006/relationships/notesMaster" Target="/ppt/notesMasters/notesMaster1.xml" Id="Rfa7a8948ff304063" /><Relationship Type="http://schemas.openxmlformats.org/officeDocument/2006/relationships/presProps" Target="/ppt/presProps.xml" Id="R073de4e5820b4560" /><Relationship Type="http://schemas.openxmlformats.org/officeDocument/2006/relationships/tableStyles" Target="/ppt/tableStyles.xml" Id="R855e38f889934da2" /><Relationship Type="http://schemas.openxmlformats.org/officeDocument/2006/relationships/slide" Target="/ppt/slides/slide1.xml" Id="R63e1924795d5422a" /><Relationship Type="http://schemas.openxmlformats.org/officeDocument/2006/relationships/slide" Target="/ppt/slides/slide2.xml" Id="R7fc29b61862e4fcc" /><Relationship Type="http://schemas.openxmlformats.org/officeDocument/2006/relationships/slide" Target="/ppt/slides/slide3.xml" Id="R946b7ce117df4625" /><Relationship Type="http://schemas.openxmlformats.org/officeDocument/2006/relationships/slide" Target="/ppt/slides/slide4.xml" Id="Rb2a5a51b9fb147a5" /><Relationship Type="http://schemas.openxmlformats.org/officeDocument/2006/relationships/slide" Target="/ppt/slides/slide5.xml" Id="R5266f0db869544ec" /><Relationship Type="http://schemas.openxmlformats.org/officeDocument/2006/relationships/slide" Target="/ppt/slides/slide6.xml" Id="Rd4a98eeba0924f12" /><Relationship Type="http://schemas.openxmlformats.org/officeDocument/2006/relationships/slide" Target="/ppt/slides/slide7.xml" Id="Rde5551ba889b4fdc" /><Relationship Type="http://schemas.openxmlformats.org/officeDocument/2006/relationships/slide" Target="/ppt/slides/slide8.xml" Id="R5d125d5620a7481d" /><Relationship Type="http://schemas.openxmlformats.org/officeDocument/2006/relationships/slide" Target="/ppt/slides/slide9.xml" Id="Rae96876222c748a8" /><Relationship Type="http://schemas.openxmlformats.org/officeDocument/2006/relationships/slide" Target="/ppt/slides/slide10.xml" Id="Rbbc8ae478bec4fa7" /><Relationship Type="http://schemas.openxmlformats.org/officeDocument/2006/relationships/slide" Target="/ppt/slides/slide11.xml" Id="R80ea4a6dd6e74486" /><Relationship Type="http://schemas.openxmlformats.org/officeDocument/2006/relationships/slide" Target="/ppt/slides/slide12.xml" Id="R6e9110cca99c4b77" /><Relationship Type="http://schemas.openxmlformats.org/officeDocument/2006/relationships/slide" Target="/ppt/slides/slide13.xml" Id="R22d1abcee394409a" /><Relationship Type="http://schemas.openxmlformats.org/officeDocument/2006/relationships/slide" Target="/ppt/slides/slide14.xml" Id="R67bdc6f2c42c4c9e" /><Relationship Type="http://schemas.openxmlformats.org/officeDocument/2006/relationships/slide" Target="/ppt/slides/slide15.xml" Id="Rb97a16ba2a7e4c81" /><Relationship Type="http://schemas.openxmlformats.org/officeDocument/2006/relationships/slide" Target="/ppt/slides/slide16.xml" Id="R6e5d120ddcb34434" /><Relationship Type="http://schemas.openxmlformats.org/officeDocument/2006/relationships/slide" Target="/ppt/slides/slide17.xml" Id="Rce0413ec2826430d" /><Relationship Type="http://schemas.openxmlformats.org/officeDocument/2006/relationships/slide" Target="/ppt/slides/slide18.xml" Id="R5c921251c21249cf" /><Relationship Type="http://schemas.openxmlformats.org/officeDocument/2006/relationships/slide" Target="/ppt/slides/slide19.xml" Id="R6905655eea024c28" /><Relationship Type="http://schemas.openxmlformats.org/officeDocument/2006/relationships/slide" Target="/ppt/slides/slide20.xml" Id="R47aa865a2e394d03" /><Relationship Type="http://schemas.openxmlformats.org/officeDocument/2006/relationships/slide" Target="/ppt/slides/slide21.xml" Id="R940af0628d8549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f44ddd01664d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12618c02024442" /><Relationship Type="http://schemas.openxmlformats.org/officeDocument/2006/relationships/notesMaster" Target="/ppt/notesMasters/notesMaster1.xml" Id="R2d47a0b858854cf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f49a59ed0c46fc" /><Relationship Type="http://schemas.openxmlformats.org/officeDocument/2006/relationships/notesMaster" Target="/ppt/notesMasters/notesMaster1.xml" Id="Rd4f917f8837347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4c1287c27849c7" /><Relationship Type="http://schemas.openxmlformats.org/officeDocument/2006/relationships/notesMaster" Target="/ppt/notesMasters/notesMaster1.xml" Id="Red58619c803940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1a7ee90e9243cb" /><Relationship Type="http://schemas.openxmlformats.org/officeDocument/2006/relationships/notesMaster" Target="/ppt/notesMasters/notesMaster1.xml" Id="Rc45397ef3eb84c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2b5fc6dd1d4426" /><Relationship Type="http://schemas.openxmlformats.org/officeDocument/2006/relationships/notesMaster" Target="/ppt/notesMasters/notesMaster1.xml" Id="R82b21800968544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c354759e234bef" /><Relationship Type="http://schemas.openxmlformats.org/officeDocument/2006/relationships/notesMaster" Target="/ppt/notesMasters/notesMaster1.xml" Id="Rb3ceff4e2a7a42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3e0e6c716f49a8" /><Relationship Type="http://schemas.openxmlformats.org/officeDocument/2006/relationships/notesMaster" Target="/ppt/notesMasters/notesMaster1.xml" Id="Rd589a9ef87464b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22085c21154f3b" /><Relationship Type="http://schemas.openxmlformats.org/officeDocument/2006/relationships/notesMaster" Target="/ppt/notesMasters/notesMaster1.xml" Id="Rc3a5423242954f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085c1c596441f2" /><Relationship Type="http://schemas.openxmlformats.org/officeDocument/2006/relationships/notesMaster" Target="/ppt/notesMasters/notesMaster1.xml" Id="Rf8af9007c96a42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cc2c8bd49e4385" /><Relationship Type="http://schemas.openxmlformats.org/officeDocument/2006/relationships/notesMaster" Target="/ppt/notesMasters/notesMaster1.xml" Id="Rf6298cb9a9cc49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3532b567df4df8" /><Relationship Type="http://schemas.openxmlformats.org/officeDocument/2006/relationships/notesMaster" Target="/ppt/notesMasters/notesMaster1.xml" Id="Rc4bac3733a194f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ce72e053044b62" /><Relationship Type="http://schemas.openxmlformats.org/officeDocument/2006/relationships/notesMaster" Target="/ppt/notesMasters/notesMaster1.xml" Id="Rde815037e75343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2df0d3fb9ea4bcf" /><Relationship Type="http://schemas.openxmlformats.org/officeDocument/2006/relationships/notesMaster" Target="/ppt/notesMasters/notesMaster1.xml" Id="R8a7815a8a95147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9bf2b4d46c4453d" /><Relationship Type="http://schemas.openxmlformats.org/officeDocument/2006/relationships/notesMaster" Target="/ppt/notesMasters/notesMaster1.xml" Id="Rb6111fe787c244e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97ce7ba2738436b" /><Relationship Type="http://schemas.openxmlformats.org/officeDocument/2006/relationships/notesMaster" Target="/ppt/notesMasters/notesMaster1.xml" Id="R097c250f6b9f457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a309c7c15d44114" /><Relationship Type="http://schemas.openxmlformats.org/officeDocument/2006/relationships/notesMaster" Target="/ppt/notesMasters/notesMaster1.xml" Id="R98e7afb16065402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20fb07e7f2b4944" /><Relationship Type="http://schemas.openxmlformats.org/officeDocument/2006/relationships/notesMaster" Target="/ppt/notesMasters/notesMaster1.xml" Id="R76fd329c77e146b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d6c65cc1d364968" /><Relationship Type="http://schemas.openxmlformats.org/officeDocument/2006/relationships/notesMaster" Target="/ppt/notesMasters/notesMaster1.xml" Id="R2bbafbbfa086455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65f39b412ad426a" /><Relationship Type="http://schemas.openxmlformats.org/officeDocument/2006/relationships/notesMaster" Target="/ppt/notesMasters/notesMaster1.xml" Id="R974da566bb474ed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3cad84fd5734f93" /><Relationship Type="http://schemas.openxmlformats.org/officeDocument/2006/relationships/notesMaster" Target="/ppt/notesMasters/notesMaster1.xml" Id="R15b327eeddc344e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71302442fff42b3" /><Relationship Type="http://schemas.openxmlformats.org/officeDocument/2006/relationships/notesMaster" Target="/ppt/notesMasters/notesMaster1.xml" Id="R5aa6d7a10c2a40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recommend Story A because it tackles the flat account, overlapping networks, manual releases and fragmented troubleshooting together. The proposal separates environments and standardizes delivery. These are design decisions, not a claim that the platform is deployed. The under-15-minute recovery goal needs an agreed incident set and game-day measurements.</a:t>
            </a:r>
          </a:p>
          <a:p xmlns:a="http://schemas.openxmlformats.org/drawingml/2006/main">
            <a:r>
              <a:t/>
            </a:r>
          </a:p>
          <a:p xmlns:a="http://schemas.openxmlformats.org/drawingml/2006/main">
            <a:r>
              <a:t>Source / basis: Assignment PDF pp. 2-4, Story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management account governs the organization and runs no application workload. Foundation accounts provide network, security and shared platform services. Dev, staging and production own their runtime clusters and data. The shared platform account owns a sandbox EKS cluster and reusable platform tooling. This meets the shared-platform requirement while avoiding one production cluster shared with development. Account names are logical roles, not provisioned accounts.</a:t>
            </a:r>
          </a:p>
          <a:p xmlns:a="http://schemas.openxmlformats.org/drawingml/2006/main">
            <a:r>
              <a:t/>
            </a:r>
          </a:p>
          <a:p xmlns:a="http://schemas.openxmlformats.org/drawingml/2006/main">
            <a:r>
              <a:t>Source / basis: Assignment PDF, sections 1.2 and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network account owns the Transit Gateway and shares it through AWS RAM. Each workload VPC attaches through dedicated transit subnets. Separate TGW route tables and explicit routes prevent unapproved dev-to-prod paths. VPC routes, security groups and workload policies provide additional restrictions. The diagram shows approved connectivity, not unrestricted any-to-any routing. Use non-overlapping CIDRs approved during discovery.</a:t>
            </a:r>
          </a:p>
          <a:p xmlns:a="http://schemas.openxmlformats.org/drawingml/2006/main">
            <a:r>
              <a:t/>
            </a:r>
          </a:p>
          <a:p xmlns:a="http://schemas.openxmlformats.org/drawingml/2006/main">
            <a:r>
              <a:t>Source / basis: Assignment PDF, sections 1.2 and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outbound internet path, not the public application ingress path. The spoke default route points to TGW. TGW routes traffic into the inspection VPC, then the same-AZ firewall endpoint and NAT before the internet gateway. Deploy equivalent firewall/NAT paths in two AZs. Use appliance mode on the inspection attachment and symmetric return routing. Keep app/data boundaries explicit and prevent spoke bypass routes. Private AWS endpoints can be approved exceptions to internet egress.</a:t>
            </a:r>
          </a:p>
          <a:p xmlns:a="http://schemas.openxmlformats.org/drawingml/2006/main">
            <a:r>
              <a:t/>
            </a:r>
          </a:p>
          <a:p xmlns:a="http://schemas.openxmlformats.org/drawingml/2006/main">
            <a:r>
              <a:t>Source / basis: https://docs.aws.amazon.com/network-firewall/latest/developerguide/asymmetric-routing.html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typical public application, Route 53 resolves the application name to its ingress entry point. HTTPS reaches a public ALB with ACM certificate and WAF. The AWS Load Balancer Controller reconciles ingress rules into ALB routing; the application pods remain private. Application or ALB OIDC integration validates the user identity. The service routes to ready pods. Pod access to AWS uses workload IAM, not the end-user token. Kubernetes administration is a separate path through a private API endpoint with access entries and RBAC.</a:t>
            </a:r>
          </a:p>
          <a:p xmlns:a="http://schemas.openxmlformats.org/drawingml/2006/main">
            <a:r>
              <a:t/>
            </a:r>
          </a:p>
          <a:p xmlns:a="http://schemas.openxmlformats.org/drawingml/2006/main">
            <a:r>
              <a:t>Source / basis: Assignment PDF, sections 1.2 and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same environment cluster with separate managed node groups across AZs. Linux nodes host controllers and Linux APIs. Windows nodes host compatible Windows containers, with OS labels and taints/tolerations. Pod Identity is preferred on supported Linux EC2 pods. Windows uses an IRSA compatibility path with SDK validation. Use customized VPC CNI networking for Linux if needed; Windows custom networking is unsupported. The client must confirm whether customized VPC CNI satisfies the assignment wording. Keep incompatible legacy applications on managed EC2 temporarily rather than force containerization.</a:t>
            </a:r>
          </a:p>
          <a:p xmlns:a="http://schemas.openxmlformats.org/drawingml/2006/main">
            <a:r>
              <a:t/>
            </a:r>
          </a:p>
          <a:p xmlns:a="http://schemas.openxmlformats.org/drawingml/2006/main">
            <a:r>
              <a:t>Source / basis: https://docs.aws.amazon.com/eks/latest/userguide/windows-support.html ; https://docs.aws.amazon.com/eks/latest/userguide/pod-identities.html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represents deployment access: GitHub OIDC maps to a scoped deploy role in the chosen target account. Restrict trust to approved repository and environment and use protected approvals for production. The lower row represents workload access: a pod gets its workload role, then assumes an approved target role where cross-account access is needed. Source permission and target trust must both allow it. Resource and KMS policies also apply. SCPs and permission boundaries limit available permissions; they do not grant access.</a:t>
            </a:r>
          </a:p>
          <a:p xmlns:a="http://schemas.openxmlformats.org/drawingml/2006/main">
            <a:r>
              <a:t/>
            </a:r>
          </a:p>
          <a:p xmlns:a="http://schemas.openxmlformats.org/drawingml/2006/main">
            <a:r>
              <a:t>Source / basis: Assignment PDF section 2.3; https://docs.aws.amazon.com/eks/latest/userguide/pod-identities.html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reusable modules in their own versioned repository. Account repositories consume a pinned module version and own account-specific composition, providers, state and policy inputs. Application repositories own Helm charts, values and Argo CD configuration. This avoids mixing shared module development with an environment apply or an application release. The folders below show ownership and reuse, not a complete repository.</a:t>
            </a:r>
          </a:p>
          <a:p xmlns:a="http://schemas.openxmlformats.org/drawingml/2006/main">
            <a:r>
              <a:t/>
            </a:r>
          </a:p>
          <a:p xmlns:a="http://schemas.openxmlformats.org/drawingml/2006/main">
            <a:r>
              <a:t>Source / basis: Assignment PDF sections 3.1-3.2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pull request runs formatting, validation and security/policy checks. A scoped plan is reviewed and an approved job applies the same saved plan. Replan if the code or relevant inputs change. State is separated by account, environment and stack, and access policies prevent cross-environment writes. The PDF asks for S3/DynamoDB locking. DynamoDB locking is now deprecated, so keep that as an assignment compatibility decision and agree a migration to S3 native locking. Never use a single writable state across all environments.</a:t>
            </a:r>
          </a:p>
          <a:p xmlns:a="http://schemas.openxmlformats.org/drawingml/2006/main">
            <a:r>
              <a:t/>
            </a:r>
          </a:p>
          <a:p xmlns:a="http://schemas.openxmlformats.org/drawingml/2006/main">
            <a:r>
              <a:t>Source / basis: Assignment PDF sections 1.2, 3.1; https://developer.hashicorp.com/terraform/language/backend/s3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GitHub Actions owns continuous integration. On a pull request, run tests and the approved Veracode or equivalent checks: SAST for code, SCA for dependencies, DAST where an environment is available, container checks and IaC policy checks. Secret detection and Helm validation remain separate gates. After approval, build the image, scan it and publish an immutable digest to ECR. The exact Veracode products and thresholds are confirmed with the client. CI proposes a GitOps change; it does not directly deploy to EKS.</a:t>
            </a:r>
          </a:p>
          <a:p xmlns:a="http://schemas.openxmlformats.org/drawingml/2006/main">
            <a:r>
              <a:t/>
            </a:r>
          </a:p>
          <a:p xmlns:a="http://schemas.openxmlformats.org/drawingml/2006/main">
            <a:r>
              <a:t>Source / basis: Assignment PDF, sections 1.2 and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GitOps holds the desired application version and environment values. A reviewed change pins the same tested image digest. Argo CD watches the appropriate environment path, renders the Helm chart and reconciles the manifests into EKS. Helm supplies templates and values; Argo CD manages synchronization. Dev, staging and production have independent approvals and permissions. Verify smoke tests and telemetry before promotion. For rollback, revert the Git desired version and sync, checking database compatibility. Advanced canary routing would need Argo Rollouts or another controller, not Argo CD alone.</a:t>
            </a:r>
          </a:p>
          <a:p xmlns:a="http://schemas.openxmlformats.org/drawingml/2006/main">
            <a:r>
              <a:t/>
            </a:r>
          </a:p>
          <a:p xmlns:a="http://schemas.openxmlformats.org/drawingml/2006/main">
            <a:r>
              <a:t>Source / basis: Assignment PDF, sections 1.2 and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primary story within the tools you know. CloudWatch receives host and application logs and alarms. Prometheus and Grafana provide Kubernetes metrics and dashboards. A configured subscription or delivery pipeline can copy selected logs into the central OpenSearch account. Correlate account, environment, host/pod and request identifiers, with access and retention policies. Application tracing is an optional later enhancement if the client needs request-level latency analysis. The under-15-minute MTTR target must be measured in game days, not asserted from tool deployment.</a:t>
            </a:r>
          </a:p>
          <a:p xmlns:a="http://schemas.openxmlformats.org/drawingml/2006/main">
            <a:r>
              <a:t/>
            </a:r>
          </a:p>
          <a:p xmlns:a="http://schemas.openxmlformats.org/drawingml/2006/main">
            <a:r>
              <a:t>Source / basis: Assignment PDF, sections 1.2 and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existing monitoring and incident channel as the entry point. A CloudWatch alarm, Grafana alert or incident webhook can start an AWS DevOps Agent investigation. The agent correlates available telemetry and recent deployment context, then provides findings and mitigation suggestions. The operator reviews the evidence and decides whether to run an approved SSM diagnostic or recovery procedure. Keep automated changes behind an allowlist and human approval. This is a simpler proposal than building a custom API Gateway, Lambda and Step Functions workflow, and it matches your recent POC.</a:t>
            </a:r>
          </a:p>
          <a:p xmlns:a="http://schemas.openxmlformats.org/drawingml/2006/main">
            <a:r>
              <a:t/>
            </a:r>
          </a:p>
          <a:p xmlns:a="http://schemas.openxmlformats.org/drawingml/2006/main">
            <a:r>
              <a:t>Source / basis: Assignment PDF sections 1.2, 4; https://docs.aws.amazon.com/devopsagent/latest/userguide/production-operations-autonomous-incident-response.html; https://docs.aws.amazon.com/devopsagent/latest/userguide/connecting-to-cicd-pipelines-connecting-github.html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runbook starts with symptoms and recent changes, then gathers OS-specific evidence. Linux checks include service state, memory, disk blocks and inodes, journal and web logs. Windows checks include service state, event logs, IIS application pools and disk/memory. SSM Run Command targets managed hosts, not arbitrary pod exec sessions. Containers need an approved logging/debug path. Patch EC2 within maintenance windows. For EKS node upgrades, create replacement capacity, drain safely, respect disruption budgets and verify before the next batch. Restore configuration or roll back the release if an approved recovery fails.</a:t>
            </a:r>
          </a:p>
          <a:p xmlns:a="http://schemas.openxmlformats.org/drawingml/2006/main">
            <a:r>
              <a:t/>
            </a:r>
          </a:p>
          <a:p xmlns:a="http://schemas.openxmlformats.org/drawingml/2006/main">
            <a:r>
              <a:t>Source / basis: Assignment PDF, sections 1.2 and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matrix ties each pillar to a concrete design control. Each control needs an acceptance check during implementation: pipeline gate tests, denied-access tests, AZ failure tests, load tests, cost reports and idle-capacity reviews. Graviton is an optional Linux optimization after compatibility testing, not a Windows node choice. The controls reduce risk; they do not establish an achieved certification or measured SLO.</a:t>
            </a:r>
          </a:p>
          <a:p xmlns:a="http://schemas.openxmlformats.org/drawingml/2006/main">
            <a:r>
              <a:t/>
            </a:r>
          </a:p>
          <a:p xmlns:a="http://schemas.openxmlformats.org/drawingml/2006/main">
            <a:r>
              <a:t>Source / basis: Assignment PDF section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Story A fits the combined platform, migration and operations problem. Separate runtime clusters cost more than one shared cluster but reduce shared failure and permission scope. Central egress gives consistent inspection but adds a shared dependency and routing complexity, so test both AZ paths. Managed node groups simplify operations while Windows compatibility still needs a dedicated pilot. GitOps creates an auditable release path but teams need clear emergency-change procedures. The client approves the exact account model, Windows dependencies and CNI interpretation before implementation.</a:t>
            </a:r>
          </a:p>
          <a:p xmlns:a="http://schemas.openxmlformats.org/drawingml/2006/main">
            <a:r>
              <a:t/>
            </a:r>
          </a:p>
          <a:p xmlns:a="http://schemas.openxmlformats.org/drawingml/2006/main">
            <a:r>
              <a:t>Source / basis: Assignment PDF, sections 1.2 and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SOW, with dates and effort agreed after discovery. Phase one approves scope, dependencies, CIDRs and risk decisions. Phase two builds the landing zone, network and EKS in non-production first. Phase three migrates a pilot, rehearses recovery and expands only after acceptance. Hold weekly demonstrations and maintain a decision log, risk register and change-control process. Dependencies include client account access, application owners, approved images, DNS/certificates and support/retention requirements. Application rewrites and unapproved production cutover are outside this design scope.</a:t>
            </a:r>
          </a:p>
          <a:p xmlns:a="http://schemas.openxmlformats.org/drawingml/2006/main">
            <a:r>
              <a:t/>
            </a:r>
          </a:p>
          <a:p xmlns:a="http://schemas.openxmlformats.org/drawingml/2006/main">
            <a:r>
              <a:t>Source / basis: Assignment PDF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spoke provider creates the VPC attachment. The hub provider associates it with an explicitly selected route table after acceptance. Inputs and provider aliases belong in the surrounding root module. AWS RAM sharing, acceptance, explicit routes and default association/propagation controls are prerequisites, not shown here. This excerpt is not a complete deployable network.</a:t>
            </a:r>
          </a:p>
          <a:p xmlns:a="http://schemas.openxmlformats.org/drawingml/2006/main">
            <a:r>
              <a:t/>
            </a:r>
          </a:p>
          <a:p xmlns:a="http://schemas.openxmlformats.org/drawingml/2006/main">
            <a:r>
              <a:t>Source / basis: Assignment PDF sections 3.2 and 4.1; illustrative resource / command excerpts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resource creates two managed node groups for an existing cluster. Inputs must provide private subnets, a correctly trusted node role and a supported instance type for each operating system. The surrounding platform must enable Windows IPAM, install compatible add-ons, and configure Windows node authorization including the required kube-proxy group. Scheduling constraints and rolling-update safeguards are required. This is a resource excerpt, not a complete EKS installation.</a:t>
            </a:r>
          </a:p>
          <a:p xmlns:a="http://schemas.openxmlformats.org/drawingml/2006/main">
            <a:r>
              <a:t/>
            </a:r>
          </a:p>
          <a:p xmlns:a="http://schemas.openxmlformats.org/drawingml/2006/main">
            <a:r>
              <a:t>Source / basis: Assignment PDF sections 3.2 and 4.1; illustrative resource / command excerpts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this read-only excerpt through an approved SSM shell document on a systemd host with coreutils timeout. Change nginx to an allowlisted service. systemctl reports its state; journalctl shows recent evidence; free shows memory; df checks space and inodes. Limit command time and returned logs. A service being inactive is evidence, not permission to restart it. Test permissions, output handling and failure behavior on the target distribution before production.</a:t>
            </a:r>
          </a:p>
          <a:p xmlns:a="http://schemas.openxmlformats.org/drawingml/2006/main">
            <a:r>
              <a:t/>
            </a:r>
          </a:p>
          <a:p xmlns:a="http://schemas.openxmlformats.org/drawingml/2006/main">
            <a:r>
              <a:t>Source / basis: Assignment PDF sections 3.2 and 4.1; illustrative resource / command excerpts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this read-only excerpt through an approved SSM PowerShell document with an overall command timeout. W3SVC is the IIS web service. Recent Application events help explain failures. WebAdministration exposes app pools where IIS management tooling is installed. Test access, module availability and output redaction before production. It does not restart services or change application pools.</a:t>
            </a:r>
          </a:p>
          <a:p xmlns:a="http://schemas.openxmlformats.org/drawingml/2006/main">
            <a:r>
              <a:t/>
            </a:r>
          </a:p>
          <a:p xmlns:a="http://schemas.openxmlformats.org/drawingml/2006/main">
            <a:r>
              <a:t>Source / basis: Assignment PDF sections 3.2 and 4.1; illustrative resource / command excerpts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f0569624b64e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91dac27a7844d0" /><Relationship Type="http://schemas.openxmlformats.org/officeDocument/2006/relationships/slideLayout" Target="/ppt/slideLayouts/slideLayout1.xml" Id="R2cef65873bdf4c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ef65873bdf4c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5051fce7384951" /><Relationship Type="http://schemas.openxmlformats.org/officeDocument/2006/relationships/notesSlide" Target="/ppt/notesSlides/notesSlide1.xml" Id="R2542de48ed0647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c1ef6cab7641b1" /><Relationship Type="http://schemas.openxmlformats.org/officeDocument/2006/relationships/notesSlide" Target="/ppt/notesSlides/notesSlide2.xml" Id="R46080497a42b46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1f8d12f7ac47b8" /><Relationship Type="http://schemas.openxmlformats.org/officeDocument/2006/relationships/notesSlide" Target="/ppt/notesSlides/notesSlide3.xml" Id="R43a7f030c3634d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5b4f2490804e06" /><Relationship Type="http://schemas.openxmlformats.org/officeDocument/2006/relationships/notesSlide" Target="/ppt/notesSlides/notesSlide4.xml" Id="R6bef4ddfe25042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78917212764f6d" /><Relationship Type="http://schemas.openxmlformats.org/officeDocument/2006/relationships/notesSlide" Target="/ppt/notesSlides/notesSlide5.xml" Id="R13cd1eb21a2d41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159f306ad245cb" /><Relationship Type="http://schemas.openxmlformats.org/officeDocument/2006/relationships/notesSlide" Target="/ppt/notesSlides/notesSlide6.xml" Id="R62e82abaaaa64a5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fe90634b3844f6" /><Relationship Type="http://schemas.openxmlformats.org/officeDocument/2006/relationships/notesSlide" Target="/ppt/notesSlides/notesSlide7.xml" Id="R449775b543f14b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4ce743d1c5d4023" /><Relationship Type="http://schemas.openxmlformats.org/officeDocument/2006/relationships/notesSlide" Target="/ppt/notesSlides/notesSlide8.xml" Id="R88d0236504e341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53da63b59154f47" /><Relationship Type="http://schemas.openxmlformats.org/officeDocument/2006/relationships/notesSlide" Target="/ppt/notesSlides/notesSlide9.xml" Id="R6a9d8af9b6114a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c5c400672ef4d78" /><Relationship Type="http://schemas.openxmlformats.org/officeDocument/2006/relationships/notesSlide" Target="/ppt/notesSlides/notesSlide10.xml" Id="R9373d06db5804e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2d836b16f3a4518" /><Relationship Type="http://schemas.openxmlformats.org/officeDocument/2006/relationships/notesSlide" Target="/ppt/notesSlides/notesSlide11.xml" Id="R1f4bececdc4c4d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e41831fa9104e1a" /><Relationship Type="http://schemas.openxmlformats.org/officeDocument/2006/relationships/notesSlide" Target="/ppt/notesSlides/notesSlide12.xml" Id="Ra9ecc198bc6842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f841a10622846f5" /><Relationship Type="http://schemas.openxmlformats.org/officeDocument/2006/relationships/notesSlide" Target="/ppt/notesSlides/notesSlide13.xml" Id="R508b964debe54c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f1174d8046f462c" /><Relationship Type="http://schemas.openxmlformats.org/officeDocument/2006/relationships/notesSlide" Target="/ppt/notesSlides/notesSlide14.xml" Id="R8d0b65c733c74e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42efcd65193484c" /><Relationship Type="http://schemas.openxmlformats.org/officeDocument/2006/relationships/notesSlide" Target="/ppt/notesSlides/notesSlide15.xml" Id="R42be858eebf9404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92f458458f14df7" /><Relationship Type="http://schemas.openxmlformats.org/officeDocument/2006/relationships/notesSlide" Target="/ppt/notesSlides/notesSlide16.xml" Id="R4e1e74b6c4a645a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f28317322834e88" /><Relationship Type="http://schemas.openxmlformats.org/officeDocument/2006/relationships/notesSlide" Target="/ppt/notesSlides/notesSlide17.xml" Id="Raea43862081344a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f318a72cc91496a" /><Relationship Type="http://schemas.openxmlformats.org/officeDocument/2006/relationships/notesSlide" Target="/ppt/notesSlides/notesSlide18.xml" Id="Ra2650db862e34a5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2bb583732cf460a" /><Relationship Type="http://schemas.openxmlformats.org/officeDocument/2006/relationships/notesSlide" Target="/ppt/notesSlides/notesSlide19.xml" Id="R179c7430ad2f4cc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3e26b83ee9646f8" /><Relationship Type="http://schemas.openxmlformats.org/officeDocument/2006/relationships/notesSlide" Target="/ppt/notesSlides/notesSlide20.xml" Id="R0fb9f1c32bc7478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3a9f50209534104" /><Relationship Type="http://schemas.openxmlformats.org/officeDocument/2006/relationships/notesSlide" Target="/ppt/notesSlides/notesSlide21.xml" Id="Rd4f3db5c30114a8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44B86A5-EC01-4EE3-A66C-6D680BE5DB62}"/>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Enterprise AWS modernization</a:t>
            </a:r>
          </a:p>
        </p:txBody>
      </p:sp>
      <p:sp>
        <p:nvSpPr>
          <p:cNvPr id="2" name="">
            <a:extLst xmlns:a="http://schemas.openxmlformats.org/drawingml/2006/main">
              <a:ext uri="{FF2B5EF4-FFF2-40B4-BE49-F238E27FC236}">
                <a16:creationId xmlns:a16="http://schemas.microsoft.com/office/drawing/2014/main" id="{14BBFF62-C28B-4033-A4DB-628BE281ACBA}"/>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FD433E9F-90A1-4635-BDCB-EB71E9956296}"/>
              </a:ext>
            </a:extLst>
          </p:cNvPr>
          <p:cNvSpPr>
            <a:spLocks xmlns:a="http://schemas.openxmlformats.org/drawingml/2006/main" noGrp="1"/>
          </p:cNvSpPr>
          <p:nvPr/>
        </p:nvSpPr>
        <p:spPr>
          <a:xfrm xmlns:a="http://schemas.openxmlformats.org/drawingml/2006/main">
            <a:off x="619125" y="1428750"/>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Story A</a:t>
            </a:r>
          </a:p>
        </p:txBody>
      </p:sp>
      <p:sp>
        <p:nvSpPr>
          <p:cNvPr id="4" name="">
            <a:extLst xmlns:a="http://schemas.openxmlformats.org/drawingml/2006/main">
              <a:ext uri="{FF2B5EF4-FFF2-40B4-BE49-F238E27FC236}">
                <a16:creationId xmlns:a16="http://schemas.microsoft.com/office/drawing/2014/main" id="{EC753FA9-4CCA-492A-B43C-D862FE5D3399}"/>
              </a:ext>
            </a:extLst>
          </p:cNvPr>
          <p:cNvSpPr>
            <a:spLocks xmlns:a="http://schemas.openxmlformats.org/drawingml/2006/main" noGrp="1"/>
          </p:cNvSpPr>
          <p:nvPr/>
        </p:nvSpPr>
        <p:spPr>
          <a:xfrm xmlns:a="http://schemas.openxmlformats.org/drawingml/2006/main">
            <a:off x="619125" y="2286000"/>
            <a:ext cx="10382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64A"/>
                </a:solidFill>
                <a:latin typeface="Helvetica Neue"/>
                <a:ea typeface="Helvetica Neue"/>
                <a:cs typeface="Helvetica Neue"/>
              </a:defRPr>
            </a:pPr>
            <a:r>
              <a:rPr sz="3600" b="1">
                <a:solidFill>
                  <a:srgbClr val="18364A"/>
                </a:solidFill>
                <a:latin typeface="Helvetica Neue"/>
                <a:ea typeface="Helvetica Neue"/>
                <a:cs typeface="Helvetica Neue"/>
              </a:rPr>
              <a:t>Separate environments.</a:t>
            </a:r>
          </a:p>
          <a:p xmlns:a="http://schemas.openxmlformats.org/drawingml/2006/main">
            <a:pPr>
              <a:defRPr sz="3600" b="1">
                <a:solidFill>
                  <a:srgbClr val="18364A"/>
                </a:solidFill>
                <a:latin typeface="Helvetica Neue"/>
                <a:ea typeface="Helvetica Neue"/>
                <a:cs typeface="Helvetica Neue"/>
              </a:defRPr>
            </a:pPr>
            <a:r>
              <a:rPr sz="3600" b="1">
                <a:solidFill>
                  <a:srgbClr val="18364A"/>
                </a:solidFill>
                <a:latin typeface="Helvetica Neue"/>
                <a:ea typeface="Helvetica Neue"/>
                <a:cs typeface="Helvetica Neue"/>
              </a:rPr>
              <a:t>Repeatable releases.</a:t>
            </a:r>
          </a:p>
          <a:p xmlns:a="http://schemas.openxmlformats.org/drawingml/2006/main">
            <a:pPr>
              <a:defRPr sz="3600" b="1">
                <a:solidFill>
                  <a:srgbClr val="18364A"/>
                </a:solidFill>
                <a:latin typeface="Helvetica Neue"/>
                <a:ea typeface="Helvetica Neue"/>
                <a:cs typeface="Helvetica Neue"/>
              </a:defRPr>
            </a:pPr>
            <a:r>
              <a:rPr sz="3600" b="1">
                <a:solidFill>
                  <a:srgbClr val="18364A"/>
                </a:solidFill>
                <a:latin typeface="Helvetica Neue"/>
                <a:ea typeface="Helvetica Neue"/>
                <a:cs typeface="Helvetica Neue"/>
              </a:rPr>
              <a:t>Faster diagnosis.</a:t>
            </a:r>
          </a:p>
        </p:txBody>
      </p:sp>
      <p:sp>
        <p:nvSpPr>
          <p:cNvPr id="5" name="">
            <a:extLst xmlns:a="http://schemas.openxmlformats.org/drawingml/2006/main">
              <a:ext uri="{FF2B5EF4-FFF2-40B4-BE49-F238E27FC236}">
                <a16:creationId xmlns:a16="http://schemas.microsoft.com/office/drawing/2014/main" id="{1196CECE-9266-477F-A9AA-5A99B72458D2}"/>
              </a:ext>
            </a:extLst>
          </p:cNvPr>
          <p:cNvSpPr>
            <a:spLocks xmlns:a="http://schemas.openxmlformats.org/drawingml/2006/main" noGrp="1"/>
          </p:cNvSpPr>
          <p:nvPr/>
        </p:nvSpPr>
        <p:spPr>
          <a:xfrm xmlns:a="http://schemas.openxmlformats.org/drawingml/2006/main">
            <a:off x="619125" y="51435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A"/>
                </a:solidFill>
                <a:latin typeface="Helvetica Neue"/>
                <a:ea typeface="Helvetica Neue"/>
                <a:cs typeface="Helvetica Neue"/>
              </a:defRPr>
            </a:pPr>
            <a:r>
              <a:rPr sz="2025" b="0">
                <a:solidFill>
                  <a:srgbClr val="18364A"/>
                </a:solidFill>
                <a:latin typeface="Helvetica Neue"/>
                <a:ea typeface="Helvetica Neue"/>
                <a:cs typeface="Helvetica Neue"/>
              </a:rPr>
              <a:t>Hussen Ali</a:t>
            </a:r>
          </a:p>
          <a:p xmlns:a="http://schemas.openxmlformats.org/drawingml/2006/main">
            <a:pPr>
              <a:defRPr sz="2025" b="0">
                <a:solidFill>
                  <a:srgbClr val="18364A"/>
                </a:solidFill>
                <a:latin typeface="Helvetica Neue"/>
                <a:ea typeface="Helvetica Neue"/>
                <a:cs typeface="Helvetica Neue"/>
              </a:defRPr>
            </a:pPr>
            <a:r>
              <a:rPr sz="2025" b="0">
                <a:solidFill>
                  <a:srgbClr val="18364A"/>
                </a:solidFill>
                <a:latin typeface="Helvetica Neue"/>
                <a:ea typeface="Helvetica Neue"/>
                <a:cs typeface="Helvetica Neue"/>
              </a:rPr>
              <a:t>Architecture proposal and delivery plan</a:t>
            </a:r>
          </a:p>
        </p:txBody>
      </p:sp>
    </p:spTree>
    <p:extLst>
      <p:ext uri="{BB962C8B-B14F-4D97-AF65-F5344CB8AC3E}">
        <p14:creationId xmlns:p14="http://schemas.microsoft.com/office/powerpoint/2010/main" val="21374021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454EED6-4922-4CA9-AD10-02ABA0CC8675}"/>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Multi-account structure</a:t>
            </a:r>
          </a:p>
        </p:txBody>
      </p:sp>
      <p:sp>
        <p:nvSpPr>
          <p:cNvPr id="2" name="">
            <a:extLst xmlns:a="http://schemas.openxmlformats.org/drawingml/2006/main">
              <a:ext uri="{FF2B5EF4-FFF2-40B4-BE49-F238E27FC236}">
                <a16:creationId xmlns:a16="http://schemas.microsoft.com/office/drawing/2014/main" id="{5BABC46B-85C0-4EAE-812D-5C30A8E99947}"/>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F678E951-6C99-42D1-BF3B-73A9F9A27078}"/>
              </a:ext>
            </a:extLst>
          </p:cNvPr>
          <p:cNvSpPr>
            <a:spLocks xmlns:a="http://schemas.openxmlformats.org/drawingml/2006/main" noGrp="1"/>
          </p:cNvSpPr>
          <p:nvPr/>
        </p:nvSpPr>
        <p:spPr>
          <a:xfrm xmlns:a="http://schemas.openxmlformats.org/drawingml/2006/main">
            <a:off x="4048125" y="1524000"/>
            <a:ext cx="4095750" cy="9525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Management account</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Organizations and SCP guardrails</a:t>
            </a:r>
          </a:p>
        </p:txBody>
      </p:sp>
      <p:sp>
        <p:nvSpPr>
          <p:cNvPr id="4" name="">
            <a:extLst xmlns:a="http://schemas.openxmlformats.org/drawingml/2006/main">
              <a:ext uri="{FF2B5EF4-FFF2-40B4-BE49-F238E27FC236}">
                <a16:creationId xmlns:a16="http://schemas.microsoft.com/office/drawing/2014/main" id="{AD7FD922-2CE4-4F94-85F5-71E30968ECF7}"/>
              </a:ext>
            </a:extLst>
          </p:cNvPr>
          <p:cNvSpPr>
            <a:spLocks xmlns:a="http://schemas.openxmlformats.org/drawingml/2006/main" noGrp="1"/>
          </p:cNvSpPr>
          <p:nvPr/>
        </p:nvSpPr>
        <p:spPr>
          <a:xfrm xmlns:a="http://schemas.openxmlformats.org/drawingml/2006/main">
            <a:off x="809625" y="3476625"/>
            <a:ext cx="4762500" cy="200025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Foundation accounts</a:t>
            </a:r>
          </a:p>
          <a:p xmlns:a="http://schemas.openxmlformats.org/drawingml/2006/main">
            <a:r>
              <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Network hub</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Security and central logs</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Shared platform / sandbox EKS</a:t>
            </a:r>
          </a:p>
        </p:txBody>
      </p:sp>
      <p:sp>
        <p:nvSpPr>
          <p:cNvPr id="5" name="">
            <a:extLst xmlns:a="http://schemas.openxmlformats.org/drawingml/2006/main">
              <a:ext uri="{FF2B5EF4-FFF2-40B4-BE49-F238E27FC236}">
                <a16:creationId xmlns:a16="http://schemas.microsoft.com/office/drawing/2014/main" id="{094D3CB9-8C45-4C5D-BA95-33FFA01FEBA8}"/>
              </a:ext>
            </a:extLst>
          </p:cNvPr>
          <p:cNvSpPr>
            <a:spLocks xmlns:a="http://schemas.openxmlformats.org/drawingml/2006/main" noGrp="1"/>
          </p:cNvSpPr>
          <p:nvPr/>
        </p:nvSpPr>
        <p:spPr>
          <a:xfrm xmlns:a="http://schemas.openxmlformats.org/drawingml/2006/main">
            <a:off x="6619875" y="3476625"/>
            <a:ext cx="4762500" cy="200025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Workload accounts</a:t>
            </a:r>
          </a:p>
          <a:p xmlns:a="http://schemas.openxmlformats.org/drawingml/2006/main">
            <a:r>
              <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Dev: own EKS and data</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Staging: own EKS and data</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Prod: own EKS and data</a:t>
            </a:r>
          </a:p>
        </p:txBody>
      </p:sp>
      <p:cxnSp>
        <p:nvCxnSpPr>
          <p:cNvPr id="14" name=""/>
          <p:cNvCxnSpPr>
            <a:stCxn xmlns:a="http://schemas.openxmlformats.org/drawingml/2006/main" id="3" idx="2"/>
            <a:endCxn xmlns:a="http://schemas.openxmlformats.org/drawingml/2006/main" id="4" idx="0"/>
          </p:cNvCxnSpPr>
          <p:nvPr/>
        </p:nvCxnSpPr>
        <p:spPr>
          <a:xfrm xmlns:a="http://schemas.openxmlformats.org/drawingml/2006/main" flipH="1">
            <a:off x="3190875" y="2476500"/>
            <a:ext cx="2905125" cy="1000125"/>
          </a:xfrm>
          <a:prstGeom xmlns:a="http://schemas.openxmlformats.org/drawingml/2006/main" prst="bentConnector4">
            <a:avLst>
              <a:gd name="adj1" fmla="val 0"/>
              <a:gd name="adj2" fmla="val 50000"/>
            </a:avLst>
          </a:prstGeom>
          <a:ln xmlns:a="http://schemas.openxmlformats.org/drawingml/2006/main" w="23813">
            <a:solidFill>
              <a:srgbClr val="087F83"/>
            </a:solidFill>
            <a:tailEnd type="none" w="med" len="med"/>
          </a:ln>
        </p:spPr>
      </p:cxnSp>
      <p:cxnSp>
        <p:nvCxnSpPr>
          <p:cNvPr id="15" name=""/>
          <p:cNvCxnSpPr>
            <a:stCxn xmlns:a="http://schemas.openxmlformats.org/drawingml/2006/main" id="3" idx="2"/>
            <a:endCxn xmlns:a="http://schemas.openxmlformats.org/drawingml/2006/main" id="5" idx="0"/>
          </p:cNvCxnSpPr>
          <p:nvPr/>
        </p:nvCxnSpPr>
        <p:spPr>
          <a:xfrm xmlns:a="http://schemas.openxmlformats.org/drawingml/2006/main">
            <a:off x="6096000" y="2476500"/>
            <a:ext cx="2905125" cy="1000125"/>
          </a:xfrm>
          <a:prstGeom xmlns:a="http://schemas.openxmlformats.org/drawingml/2006/main" prst="bentConnector4">
            <a:avLst>
              <a:gd name="adj1" fmla="val 0"/>
              <a:gd name="adj2" fmla="val 50000"/>
            </a:avLst>
          </a:prstGeom>
          <a:ln xmlns:a="http://schemas.openxmlformats.org/drawingml/2006/main" w="23813">
            <a:solidFill>
              <a:srgbClr val="087F83"/>
            </a:solidFill>
            <a:tailEnd type="none" w="med" len="med"/>
          </a:ln>
        </p:spPr>
      </p:cxnSp>
      <p:sp>
        <p:nvSpPr>
          <p:cNvPr id="8" name="">
            <a:extLst xmlns:a="http://schemas.openxmlformats.org/drawingml/2006/main">
              <a:ext uri="{FF2B5EF4-FFF2-40B4-BE49-F238E27FC236}">
                <a16:creationId xmlns:a16="http://schemas.microsoft.com/office/drawing/2014/main" id="{E634AC04-E101-4A3C-875A-A78AE3FFDD69}"/>
              </a:ext>
            </a:extLst>
          </p:cNvPr>
          <p:cNvSpPr>
            <a:spLocks xmlns:a="http://schemas.openxmlformats.org/drawingml/2006/main" noGrp="1"/>
          </p:cNvSpPr>
          <p:nvPr/>
        </p:nvSpPr>
        <p:spPr>
          <a:xfrm xmlns:a="http://schemas.openxmlformats.org/drawingml/2006/main">
            <a:off x="666750" y="581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87F83"/>
                </a:solidFill>
                <a:latin typeface="Helvetica Neue"/>
                <a:ea typeface="Helvetica Neue"/>
                <a:cs typeface="Helvetica Neue"/>
              </a:defRPr>
            </a:pPr>
            <a:r>
              <a:rPr sz="1950" b="0">
                <a:solidFill>
                  <a:srgbClr val="087F83"/>
                </a:solidFill>
                <a:latin typeface="Helvetica Neue"/>
                <a:ea typeface="Helvetica Neue"/>
                <a:cs typeface="Helvetica Neue"/>
              </a:rPr>
              <a:t>Separate account permissions and state for every environment</a:t>
            </a:r>
          </a:p>
        </p:txBody>
      </p:sp>
    </p:spTree>
    <p:extLst>
      <p:ext uri="{BB962C8B-B14F-4D97-AF65-F5344CB8AC3E}">
        <p14:creationId xmlns:p14="http://schemas.microsoft.com/office/powerpoint/2010/main" val="1737177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3987B46-9B90-4F44-8430-B6E9FF62DAA2}"/>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Hub-spoke network topology</a:t>
            </a:r>
          </a:p>
        </p:txBody>
      </p:sp>
      <p:sp>
        <p:nvSpPr>
          <p:cNvPr id="2" name="">
            <a:extLst xmlns:a="http://schemas.openxmlformats.org/drawingml/2006/main">
              <a:ext uri="{FF2B5EF4-FFF2-40B4-BE49-F238E27FC236}">
                <a16:creationId xmlns:a16="http://schemas.microsoft.com/office/drawing/2014/main" id="{8880C3A5-D549-4EA2-9B51-105C74C8EA4E}"/>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85A16D63-98C6-41CB-8B98-0CBDC7294177}"/>
              </a:ext>
            </a:extLst>
          </p:cNvPr>
          <p:cNvSpPr>
            <a:spLocks xmlns:a="http://schemas.openxmlformats.org/drawingml/2006/main" noGrp="1"/>
          </p:cNvSpPr>
          <p:nvPr/>
        </p:nvSpPr>
        <p:spPr>
          <a:xfrm xmlns:a="http://schemas.openxmlformats.org/drawingml/2006/main">
            <a:off x="4333875" y="2809875"/>
            <a:ext cx="3524250" cy="104775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Network account</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Transit Gateway</a:t>
            </a:r>
          </a:p>
        </p:txBody>
      </p:sp>
      <p:sp>
        <p:nvSpPr>
          <p:cNvPr id="4" name="">
            <a:extLst xmlns:a="http://schemas.openxmlformats.org/drawingml/2006/main">
              <a:ext uri="{FF2B5EF4-FFF2-40B4-BE49-F238E27FC236}">
                <a16:creationId xmlns:a16="http://schemas.microsoft.com/office/drawing/2014/main" id="{DAB91D40-C707-4228-A5AC-3E558F1DBFB4}"/>
              </a:ext>
            </a:extLst>
          </p:cNvPr>
          <p:cNvSpPr>
            <a:spLocks xmlns:a="http://schemas.openxmlformats.org/drawingml/2006/main" noGrp="1"/>
          </p:cNvSpPr>
          <p:nvPr/>
        </p:nvSpPr>
        <p:spPr>
          <a:xfrm xmlns:a="http://schemas.openxmlformats.org/drawingml/2006/main">
            <a:off x="666750" y="2809875"/>
            <a:ext cx="2524125" cy="104775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Dev VPC</a:t>
            </a:r>
          </a:p>
        </p:txBody>
      </p:sp>
      <p:sp>
        <p:nvSpPr>
          <p:cNvPr id="5" name="">
            <a:extLst xmlns:a="http://schemas.openxmlformats.org/drawingml/2006/main">
              <a:ext uri="{FF2B5EF4-FFF2-40B4-BE49-F238E27FC236}">
                <a16:creationId xmlns:a16="http://schemas.microsoft.com/office/drawing/2014/main" id="{86EC5B05-F415-43FF-A9E6-5D08D9D0D02A}"/>
              </a:ext>
            </a:extLst>
          </p:cNvPr>
          <p:cNvSpPr>
            <a:spLocks xmlns:a="http://schemas.openxmlformats.org/drawingml/2006/main" noGrp="1"/>
          </p:cNvSpPr>
          <p:nvPr/>
        </p:nvSpPr>
        <p:spPr>
          <a:xfrm xmlns:a="http://schemas.openxmlformats.org/drawingml/2006/main">
            <a:off x="9001125" y="2809875"/>
            <a:ext cx="2524125" cy="104775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Prod VPC</a:t>
            </a:r>
          </a:p>
        </p:txBody>
      </p:sp>
      <p:sp>
        <p:nvSpPr>
          <p:cNvPr id="6" name="">
            <a:extLst xmlns:a="http://schemas.openxmlformats.org/drawingml/2006/main">
              <a:ext uri="{FF2B5EF4-FFF2-40B4-BE49-F238E27FC236}">
                <a16:creationId xmlns:a16="http://schemas.microsoft.com/office/drawing/2014/main" id="{36D7EE0C-3580-4A76-AD2D-02984483D134}"/>
              </a:ext>
            </a:extLst>
          </p:cNvPr>
          <p:cNvSpPr>
            <a:spLocks xmlns:a="http://schemas.openxmlformats.org/drawingml/2006/main" noGrp="1"/>
          </p:cNvSpPr>
          <p:nvPr/>
        </p:nvSpPr>
        <p:spPr>
          <a:xfrm xmlns:a="http://schemas.openxmlformats.org/drawingml/2006/main">
            <a:off x="4857750" y="4667250"/>
            <a:ext cx="2524125" cy="85725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Staging VPC</a:t>
            </a:r>
          </a:p>
        </p:txBody>
      </p:sp>
      <p:cxnSp>
        <p:nvCxnSpPr>
          <p:cNvPr id="18" name=""/>
          <p:cNvCxnSpPr>
            <a:stCxn xmlns:a="http://schemas.openxmlformats.org/drawingml/2006/main" id="4" idx="3"/>
            <a:endCxn xmlns:a="http://schemas.openxmlformats.org/drawingml/2006/main" id="3" idx="1"/>
          </p:cNvCxnSpPr>
          <p:nvPr/>
        </p:nvCxnSpPr>
        <p:spPr>
          <a:xfrm xmlns:a="http://schemas.openxmlformats.org/drawingml/2006/main">
            <a:off x="3190875" y="3333750"/>
            <a:ext cx="11430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7858125" y="3333750"/>
            <a:ext cx="11430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20" name=""/>
          <p:cNvCxnSpPr>
            <a:stCxn xmlns:a="http://schemas.openxmlformats.org/drawingml/2006/main" id="3" idx="2"/>
            <a:endCxn xmlns:a="http://schemas.openxmlformats.org/drawingml/2006/main" id="6" idx="0"/>
          </p:cNvCxnSpPr>
          <p:nvPr/>
        </p:nvCxnSpPr>
        <p:spPr>
          <a:xfrm xmlns:a="http://schemas.openxmlformats.org/drawingml/2006/main">
            <a:off x="6096000" y="3857625"/>
            <a:ext cx="23813" cy="809625"/>
          </a:xfrm>
          <a:prstGeom xmlns:a="http://schemas.openxmlformats.org/drawingml/2006/main" prst="bentConnector4">
            <a:avLst>
              <a:gd name="adj1" fmla="val 0"/>
              <a:gd name="adj2" fmla="val 50000"/>
            </a:avLst>
          </a:prstGeom>
          <a:ln xmlns:a="http://schemas.openxmlformats.org/drawingml/2006/main" w="23813">
            <a:solidFill>
              <a:srgbClr val="087F83"/>
            </a:solidFill>
            <a:tailEnd type="triangle" w="med" len="med"/>
          </a:ln>
        </p:spPr>
      </p:cxnSp>
      <p:sp>
        <p:nvSpPr>
          <p:cNvPr id="10" name="">
            <a:extLst xmlns:a="http://schemas.openxmlformats.org/drawingml/2006/main">
              <a:ext uri="{FF2B5EF4-FFF2-40B4-BE49-F238E27FC236}">
                <a16:creationId xmlns:a16="http://schemas.microsoft.com/office/drawing/2014/main" id="{2B925161-F69B-42CF-8DF4-1B963DBF174A}"/>
              </a:ext>
            </a:extLst>
          </p:cNvPr>
          <p:cNvSpPr>
            <a:spLocks xmlns:a="http://schemas.openxmlformats.org/drawingml/2006/main" noGrp="1"/>
          </p:cNvSpPr>
          <p:nvPr/>
        </p:nvSpPr>
        <p:spPr>
          <a:xfrm xmlns:a="http://schemas.openxmlformats.org/drawingml/2006/main">
            <a:off x="666750" y="1571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Approved paths only; separate TGW route tables</a:t>
            </a:r>
          </a:p>
        </p:txBody>
      </p:sp>
      <p:sp>
        <p:nvSpPr>
          <p:cNvPr id="11" name="">
            <a:extLst xmlns:a="http://schemas.openxmlformats.org/drawingml/2006/main">
              <a:ext uri="{FF2B5EF4-FFF2-40B4-BE49-F238E27FC236}">
                <a16:creationId xmlns:a16="http://schemas.microsoft.com/office/drawing/2014/main" id="{9BBBC48A-03FF-4137-A6F2-4412D42808C9}"/>
              </a:ext>
            </a:extLst>
          </p:cNvPr>
          <p:cNvSpPr>
            <a:spLocks xmlns:a="http://schemas.openxmlformats.org/drawingml/2006/main" noGrp="1"/>
          </p:cNvSpPr>
          <p:nvPr/>
        </p:nvSpPr>
        <p:spPr>
          <a:xfrm xmlns:a="http://schemas.openxmlformats.org/drawingml/2006/main">
            <a:off x="666750" y="58102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64A"/>
                </a:solidFill>
                <a:latin typeface="Helvetica Neue"/>
                <a:ea typeface="Helvetica Neue"/>
                <a:cs typeface="Helvetica Neue"/>
              </a:defRPr>
            </a:pPr>
            <a:r>
              <a:rPr sz="1950" b="0">
                <a:solidFill>
                  <a:srgbClr val="18364A"/>
                </a:solidFill>
                <a:latin typeface="Helvetica Neue"/>
                <a:ea typeface="Helvetica Neue"/>
                <a:cs typeface="Helvetica Neue"/>
              </a:rPr>
              <a:t>Private app subnets and isolated data subnets in each spoke</a:t>
            </a:r>
          </a:p>
        </p:txBody>
      </p:sp>
    </p:spTree>
    <p:extLst>
      <p:ext uri="{BB962C8B-B14F-4D97-AF65-F5344CB8AC3E}">
        <p14:creationId xmlns:p14="http://schemas.microsoft.com/office/powerpoint/2010/main" val="15357612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F884A96-2C14-4464-AFA1-2EA3D2753341}"/>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Central internet egress</a:t>
            </a:r>
          </a:p>
        </p:txBody>
      </p:sp>
      <p:sp>
        <p:nvSpPr>
          <p:cNvPr id="2" name="">
            <a:extLst xmlns:a="http://schemas.openxmlformats.org/drawingml/2006/main">
              <a:ext uri="{FF2B5EF4-FFF2-40B4-BE49-F238E27FC236}">
                <a16:creationId xmlns:a16="http://schemas.microsoft.com/office/drawing/2014/main" id="{BA7B473F-0345-4C35-B56C-BB228F943D43}"/>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086FF534-FA4C-447D-8F2A-CEE16C4E2020}"/>
              </a:ext>
            </a:extLst>
          </p:cNvPr>
          <p:cNvSpPr>
            <a:spLocks xmlns:a="http://schemas.openxmlformats.org/drawingml/2006/main" noGrp="1"/>
          </p:cNvSpPr>
          <p:nvPr/>
        </p:nvSpPr>
        <p:spPr>
          <a:xfrm xmlns:a="http://schemas.openxmlformats.org/drawingml/2006/main">
            <a:off x="666750" y="2286000"/>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Private app</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Spoke VPC</a:t>
            </a:r>
          </a:p>
        </p:txBody>
      </p:sp>
      <p:sp>
        <p:nvSpPr>
          <p:cNvPr id="4" name="">
            <a:extLst xmlns:a="http://schemas.openxmlformats.org/drawingml/2006/main">
              <a:ext uri="{FF2B5EF4-FFF2-40B4-BE49-F238E27FC236}">
                <a16:creationId xmlns:a16="http://schemas.microsoft.com/office/drawing/2014/main" id="{6DA21B43-498D-4892-85FB-CA6E453266EA}"/>
              </a:ext>
            </a:extLst>
          </p:cNvPr>
          <p:cNvSpPr>
            <a:spLocks xmlns:a="http://schemas.openxmlformats.org/drawingml/2006/main" noGrp="1"/>
          </p:cNvSpPr>
          <p:nvPr/>
        </p:nvSpPr>
        <p:spPr>
          <a:xfrm xmlns:a="http://schemas.openxmlformats.org/drawingml/2006/main">
            <a:off x="3495675" y="2286000"/>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Transit</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Gateway</a:t>
            </a:r>
          </a:p>
        </p:txBody>
      </p:sp>
      <p:sp>
        <p:nvSpPr>
          <p:cNvPr id="5" name="">
            <a:extLst xmlns:a="http://schemas.openxmlformats.org/drawingml/2006/main">
              <a:ext uri="{FF2B5EF4-FFF2-40B4-BE49-F238E27FC236}">
                <a16:creationId xmlns:a16="http://schemas.microsoft.com/office/drawing/2014/main" id="{CF4C072B-FEA7-439C-9984-A8916329E412}"/>
              </a:ext>
            </a:extLst>
          </p:cNvPr>
          <p:cNvSpPr>
            <a:spLocks xmlns:a="http://schemas.openxmlformats.org/drawingml/2006/main" noGrp="1"/>
          </p:cNvSpPr>
          <p:nvPr/>
        </p:nvSpPr>
        <p:spPr>
          <a:xfrm xmlns:a="http://schemas.openxmlformats.org/drawingml/2006/main">
            <a:off x="6324600" y="2286000"/>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Network</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Firewall</a:t>
            </a:r>
          </a:p>
        </p:txBody>
      </p:sp>
      <p:sp>
        <p:nvSpPr>
          <p:cNvPr id="6" name="">
            <a:extLst xmlns:a="http://schemas.openxmlformats.org/drawingml/2006/main">
              <a:ext uri="{FF2B5EF4-FFF2-40B4-BE49-F238E27FC236}">
                <a16:creationId xmlns:a16="http://schemas.microsoft.com/office/drawing/2014/main" id="{5A8F831F-3C9B-41EB-B6AA-9B30E1C447E9}"/>
              </a:ext>
            </a:extLst>
          </p:cNvPr>
          <p:cNvSpPr>
            <a:spLocks xmlns:a="http://schemas.openxmlformats.org/drawingml/2006/main" noGrp="1"/>
          </p:cNvSpPr>
          <p:nvPr/>
        </p:nvSpPr>
        <p:spPr>
          <a:xfrm xmlns:a="http://schemas.openxmlformats.org/drawingml/2006/main">
            <a:off x="9153525" y="2286000"/>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NAT + IGW</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Internet</a:t>
            </a:r>
          </a:p>
        </p:txBody>
      </p:sp>
      <p:cxnSp>
        <p:nvCxnSpPr>
          <p:cNvPr id="19" name=""/>
          <p:cNvCxnSpPr>
            <a:stCxn xmlns:a="http://schemas.openxmlformats.org/drawingml/2006/main" id="3" idx="3"/>
            <a:endCxn xmlns:a="http://schemas.openxmlformats.org/drawingml/2006/main" id="4" idx="1"/>
          </p:cNvCxnSpPr>
          <p:nvPr/>
        </p:nvCxnSpPr>
        <p:spPr>
          <a:xfrm xmlns:a="http://schemas.openxmlformats.org/drawingml/2006/main">
            <a:off x="3038475" y="2819400"/>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5867400" y="2819400"/>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8696325" y="2819400"/>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sp>
        <p:nvSpPr>
          <p:cNvPr id="10" name="">
            <a:extLst xmlns:a="http://schemas.openxmlformats.org/drawingml/2006/main">
              <a:ext uri="{FF2B5EF4-FFF2-40B4-BE49-F238E27FC236}">
                <a16:creationId xmlns:a16="http://schemas.microsoft.com/office/drawing/2014/main" id="{1C310A04-3632-4323-8933-21AD4A0E6B70}"/>
              </a:ext>
            </a:extLst>
          </p:cNvPr>
          <p:cNvSpPr>
            <a:spLocks xmlns:a="http://schemas.openxmlformats.org/drawingml/2006/main" noGrp="1"/>
          </p:cNvSpPr>
          <p:nvPr/>
        </p:nvSpPr>
        <p:spPr>
          <a:xfrm xmlns:a="http://schemas.openxmlformats.org/drawingml/2006/main">
            <a:off x="619125" y="3952875"/>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A"/>
                </a:solidFill>
                <a:latin typeface="Helvetica Neue"/>
                <a:ea typeface="Helvetica Neue"/>
                <a:cs typeface="Helvetica Neue"/>
              </a:defRPr>
            </a:pPr>
            <a:r>
              <a:rPr sz="2025" b="0">
                <a:solidFill>
                  <a:srgbClr val="18364A"/>
                </a:solidFill>
                <a:latin typeface="Helvetica Neue"/>
                <a:ea typeface="Helvetica Neue"/>
                <a:cs typeface="Helvetica Neue"/>
              </a:rPr>
              <a:t>Same inspection path for the return traffic</a:t>
            </a:r>
          </a:p>
        </p:txBody>
      </p:sp>
      <p:sp>
        <p:nvSpPr>
          <p:cNvPr id="11" name="">
            <a:extLst xmlns:a="http://schemas.openxmlformats.org/drawingml/2006/main">
              <a:ext uri="{FF2B5EF4-FFF2-40B4-BE49-F238E27FC236}">
                <a16:creationId xmlns:a16="http://schemas.microsoft.com/office/drawing/2014/main" id="{02C53775-D39B-4459-8B6D-A557963B9D2F}"/>
              </a:ext>
            </a:extLst>
          </p:cNvPr>
          <p:cNvSpPr>
            <a:spLocks xmlns:a="http://schemas.openxmlformats.org/drawingml/2006/main" noGrp="1"/>
          </p:cNvSpPr>
          <p:nvPr/>
        </p:nvSpPr>
        <p:spPr>
          <a:xfrm xmlns:a="http://schemas.openxmlformats.org/drawingml/2006/main">
            <a:off x="619125" y="46672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A"/>
                </a:solidFill>
                <a:latin typeface="Helvetica Neue"/>
                <a:ea typeface="Helvetica Neue"/>
                <a:cs typeface="Helvetica Neue"/>
              </a:defRPr>
            </a:pPr>
            <a:r>
              <a:rPr sz="2025" b="0">
                <a:solidFill>
                  <a:srgbClr val="18364A"/>
                </a:solidFill>
                <a:latin typeface="Helvetica Neue"/>
                <a:ea typeface="Helvetica Neue"/>
                <a:cs typeface="Helvetica Neue"/>
              </a:rPr>
              <a:t>One firewall/NAT path per AZ, with tested failure behavior</a:t>
            </a:r>
          </a:p>
        </p:txBody>
      </p:sp>
      <p:sp>
        <p:nvSpPr>
          <p:cNvPr id="12" name="">
            <a:extLst xmlns:a="http://schemas.openxmlformats.org/drawingml/2006/main">
              <a:ext uri="{FF2B5EF4-FFF2-40B4-BE49-F238E27FC236}">
                <a16:creationId xmlns:a16="http://schemas.microsoft.com/office/drawing/2014/main" id="{D669B039-C942-4283-ADA3-C27A667BFE8F}"/>
              </a:ext>
            </a:extLst>
          </p:cNvPr>
          <p:cNvSpPr>
            <a:spLocks xmlns:a="http://schemas.openxmlformats.org/drawingml/2006/main" noGrp="1"/>
          </p:cNvSpPr>
          <p:nvPr/>
        </p:nvSpPr>
        <p:spPr>
          <a:xfrm xmlns:a="http://schemas.openxmlformats.org/drawingml/2006/main">
            <a:off x="619125" y="54768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3"/>
                </a:solidFill>
                <a:latin typeface="Helvetica Neue"/>
                <a:ea typeface="Helvetica Neue"/>
                <a:cs typeface="Helvetica Neue"/>
              </a:defRPr>
            </a:pPr>
            <a:r>
              <a:rPr sz="2025" b="1">
                <a:solidFill>
                  <a:srgbClr val="087F83"/>
                </a:solidFill>
                <a:latin typeface="Helvetica Neue"/>
                <a:ea typeface="Helvetica Neue"/>
                <a:cs typeface="Helvetica Neue"/>
              </a:rPr>
              <a:t>Data subnets: no direct internet default route</a:t>
            </a:r>
          </a:p>
        </p:txBody>
      </p:sp>
    </p:spTree>
    <p:extLst>
      <p:ext uri="{BB962C8B-B14F-4D97-AF65-F5344CB8AC3E}">
        <p14:creationId xmlns:p14="http://schemas.microsoft.com/office/powerpoint/2010/main" val="158232937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29702B5-F718-4894-986D-B8BFADD7E246}"/>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EKS request and authentication flow</a:t>
            </a:r>
          </a:p>
        </p:txBody>
      </p:sp>
      <p:sp>
        <p:nvSpPr>
          <p:cNvPr id="2" name="">
            <a:extLst xmlns:a="http://schemas.openxmlformats.org/drawingml/2006/main">
              <a:ext uri="{FF2B5EF4-FFF2-40B4-BE49-F238E27FC236}">
                <a16:creationId xmlns:a16="http://schemas.microsoft.com/office/drawing/2014/main" id="{B3B1D8D4-A8DF-47B8-A7B8-22CD9B820B94}"/>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F6B10AF5-3B82-47B1-8C59-B55F0C4981A4}"/>
              </a:ext>
            </a:extLst>
          </p:cNvPr>
          <p:cNvSpPr>
            <a:spLocks xmlns:a="http://schemas.openxmlformats.org/drawingml/2006/main" noGrp="1"/>
          </p:cNvSpPr>
          <p:nvPr/>
        </p:nvSpPr>
        <p:spPr>
          <a:xfrm xmlns:a="http://schemas.openxmlformats.org/drawingml/2006/main">
            <a:off x="666750" y="2333625"/>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User</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HTTPS</a:t>
            </a:r>
          </a:p>
        </p:txBody>
      </p:sp>
      <p:sp>
        <p:nvSpPr>
          <p:cNvPr id="4" name="">
            <a:extLst xmlns:a="http://schemas.openxmlformats.org/drawingml/2006/main">
              <a:ext uri="{FF2B5EF4-FFF2-40B4-BE49-F238E27FC236}">
                <a16:creationId xmlns:a16="http://schemas.microsoft.com/office/drawing/2014/main" id="{FB21A5AC-7E4E-4066-8495-9AA52DCEBBFA}"/>
              </a:ext>
            </a:extLst>
          </p:cNvPr>
          <p:cNvSpPr>
            <a:spLocks xmlns:a="http://schemas.openxmlformats.org/drawingml/2006/main" noGrp="1"/>
          </p:cNvSpPr>
          <p:nvPr/>
        </p:nvSpPr>
        <p:spPr>
          <a:xfrm xmlns:a="http://schemas.openxmlformats.org/drawingml/2006/main">
            <a:off x="3495675" y="2333625"/>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ALB</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ACM + WAF</a:t>
            </a:r>
          </a:p>
        </p:txBody>
      </p:sp>
      <p:sp>
        <p:nvSpPr>
          <p:cNvPr id="5" name="">
            <a:extLst xmlns:a="http://schemas.openxmlformats.org/drawingml/2006/main">
              <a:ext uri="{FF2B5EF4-FFF2-40B4-BE49-F238E27FC236}">
                <a16:creationId xmlns:a16="http://schemas.microsoft.com/office/drawing/2014/main" id="{F69E4A81-BB49-4B76-B1E3-39DAD79503B9}"/>
              </a:ext>
            </a:extLst>
          </p:cNvPr>
          <p:cNvSpPr>
            <a:spLocks xmlns:a="http://schemas.openxmlformats.org/drawingml/2006/main" noGrp="1"/>
          </p:cNvSpPr>
          <p:nvPr/>
        </p:nvSpPr>
        <p:spPr>
          <a:xfrm xmlns:a="http://schemas.openxmlformats.org/drawingml/2006/main">
            <a:off x="6324600" y="2333625"/>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Service</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Ready endpoints</a:t>
            </a:r>
          </a:p>
        </p:txBody>
      </p:sp>
      <p:sp>
        <p:nvSpPr>
          <p:cNvPr id="6" name="">
            <a:extLst xmlns:a="http://schemas.openxmlformats.org/drawingml/2006/main">
              <a:ext uri="{FF2B5EF4-FFF2-40B4-BE49-F238E27FC236}">
                <a16:creationId xmlns:a16="http://schemas.microsoft.com/office/drawing/2014/main" id="{1366177E-A6B5-4B2F-814D-168D1FF1AA1E}"/>
              </a:ext>
            </a:extLst>
          </p:cNvPr>
          <p:cNvSpPr>
            <a:spLocks xmlns:a="http://schemas.openxmlformats.org/drawingml/2006/main" noGrp="1"/>
          </p:cNvSpPr>
          <p:nvPr/>
        </p:nvSpPr>
        <p:spPr>
          <a:xfrm xmlns:a="http://schemas.openxmlformats.org/drawingml/2006/main">
            <a:off x="9153525" y="2333625"/>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Private pods</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Application</a:t>
            </a:r>
          </a:p>
        </p:txBody>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038475" y="2867025"/>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5867400" y="2867025"/>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696325" y="2867025"/>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sp>
        <p:nvSpPr>
          <p:cNvPr id="10" name="">
            <a:extLst xmlns:a="http://schemas.openxmlformats.org/drawingml/2006/main">
              <a:ext uri="{FF2B5EF4-FFF2-40B4-BE49-F238E27FC236}">
                <a16:creationId xmlns:a16="http://schemas.microsoft.com/office/drawing/2014/main" id="{2AB76580-20A6-4A3E-9344-05EA29CAAE4D}"/>
              </a:ext>
            </a:extLst>
          </p:cNvPr>
          <p:cNvSpPr>
            <a:spLocks xmlns:a="http://schemas.openxmlformats.org/drawingml/2006/main" noGrp="1"/>
          </p:cNvSpPr>
          <p:nvPr/>
        </p:nvSpPr>
        <p:spPr>
          <a:xfrm xmlns:a="http://schemas.openxmlformats.org/drawingml/2006/main">
            <a:off x="666750" y="1476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3"/>
                </a:solidFill>
                <a:latin typeface="Helvetica Neue"/>
                <a:ea typeface="Helvetica Neue"/>
                <a:cs typeface="Helvetica Neue"/>
              </a:defRPr>
            </a:pPr>
            <a:r>
              <a:rPr sz="2100" b="1">
                <a:solidFill>
                  <a:srgbClr val="087F83"/>
                </a:solidFill>
                <a:latin typeface="Helvetica Neue"/>
                <a:ea typeface="Helvetica Neue"/>
                <a:cs typeface="Helvetica Neue"/>
              </a:rPr>
              <a:t>DNS: Route 53     User login: application / OIDC</a:t>
            </a:r>
          </a:p>
        </p:txBody>
      </p:sp>
      <p:sp>
        <p:nvSpPr>
          <p:cNvPr id="11" name="">
            <a:extLst xmlns:a="http://schemas.openxmlformats.org/drawingml/2006/main">
              <a:ext uri="{FF2B5EF4-FFF2-40B4-BE49-F238E27FC236}">
                <a16:creationId xmlns:a16="http://schemas.microsoft.com/office/drawing/2014/main" id="{EABA9400-4D5C-4A02-8F82-9B8763B9B419}"/>
              </a:ext>
            </a:extLst>
          </p:cNvPr>
          <p:cNvSpPr>
            <a:spLocks xmlns:a="http://schemas.openxmlformats.org/drawingml/2006/main" noGrp="1"/>
          </p:cNvSpPr>
          <p:nvPr/>
        </p:nvSpPr>
        <p:spPr>
          <a:xfrm xmlns:a="http://schemas.openxmlformats.org/drawingml/2006/main">
            <a:off x="619125" y="4048125"/>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A"/>
                </a:solidFill>
                <a:latin typeface="Helvetica Neue"/>
                <a:ea typeface="Helvetica Neue"/>
                <a:cs typeface="Helvetica Neue"/>
              </a:defRPr>
            </a:pPr>
            <a:r>
              <a:rPr sz="2025" b="0">
                <a:solidFill>
                  <a:srgbClr val="18364A"/>
                </a:solidFill>
                <a:latin typeface="Helvetica Neue"/>
                <a:ea typeface="Helvetica Neue"/>
                <a:cs typeface="Helvetica Neue"/>
              </a:rPr>
              <a:t>Pod access to AWS: service account and scoped IAM role</a:t>
            </a:r>
          </a:p>
        </p:txBody>
      </p:sp>
      <p:sp>
        <p:nvSpPr>
          <p:cNvPr id="12" name="">
            <a:extLst xmlns:a="http://schemas.openxmlformats.org/drawingml/2006/main">
              <a:ext uri="{FF2B5EF4-FFF2-40B4-BE49-F238E27FC236}">
                <a16:creationId xmlns:a16="http://schemas.microsoft.com/office/drawing/2014/main" id="{90C6B8C2-A67C-4EB5-BC4F-260049965EBF}"/>
              </a:ext>
            </a:extLst>
          </p:cNvPr>
          <p:cNvSpPr>
            <a:spLocks xmlns:a="http://schemas.openxmlformats.org/drawingml/2006/main" noGrp="1"/>
          </p:cNvSpPr>
          <p:nvPr/>
        </p:nvSpPr>
        <p:spPr>
          <a:xfrm xmlns:a="http://schemas.openxmlformats.org/drawingml/2006/main">
            <a:off x="619125" y="48577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A"/>
                </a:solidFill>
                <a:latin typeface="Helvetica Neue"/>
                <a:ea typeface="Helvetica Neue"/>
                <a:cs typeface="Helvetica Neue"/>
              </a:defRPr>
            </a:pPr>
            <a:r>
              <a:rPr sz="2025" b="0">
                <a:solidFill>
                  <a:srgbClr val="18364A"/>
                </a:solidFill>
                <a:latin typeface="Helvetica Neue"/>
                <a:ea typeface="Helvetica Neue"/>
                <a:cs typeface="Helvetica Neue"/>
              </a:rPr>
              <a:t>Administrator access: private EKS API, access entries and RBAC</a:t>
            </a:r>
          </a:p>
        </p:txBody>
      </p:sp>
      <p:sp>
        <p:nvSpPr>
          <p:cNvPr id="13" name="">
            <a:extLst xmlns:a="http://schemas.openxmlformats.org/drawingml/2006/main">
              <a:ext uri="{FF2B5EF4-FFF2-40B4-BE49-F238E27FC236}">
                <a16:creationId xmlns:a16="http://schemas.microsoft.com/office/drawing/2014/main" id="{DF4B63E5-20C0-46BE-9827-1D567169BF10}"/>
              </a:ext>
            </a:extLst>
          </p:cNvPr>
          <p:cNvSpPr>
            <a:spLocks xmlns:a="http://schemas.openxmlformats.org/drawingml/2006/main" noGrp="1"/>
          </p:cNvSpPr>
          <p:nvPr/>
        </p:nvSpPr>
        <p:spPr>
          <a:xfrm xmlns:a="http://schemas.openxmlformats.org/drawingml/2006/main">
            <a:off x="619125" y="5715000"/>
            <a:ext cx="1071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15568"/>
                </a:solidFill>
                <a:latin typeface="Helvetica Neue"/>
                <a:ea typeface="Helvetica Neue"/>
                <a:cs typeface="Helvetica Neue"/>
              </a:defRPr>
            </a:pPr>
            <a:r>
              <a:rPr sz="1875" b="0">
                <a:solidFill>
                  <a:srgbClr val="415568"/>
                </a:solidFill>
                <a:latin typeface="Helvetica Neue"/>
                <a:ea typeface="Helvetica Neue"/>
                <a:cs typeface="Helvetica Neue"/>
              </a:rPr>
              <a:t>Ingress accepts requests. Workload IAM controls AWS API access.</a:t>
            </a:r>
          </a:p>
        </p:txBody>
      </p:sp>
    </p:spTree>
    <p:extLst>
      <p:ext uri="{BB962C8B-B14F-4D97-AF65-F5344CB8AC3E}">
        <p14:creationId xmlns:p14="http://schemas.microsoft.com/office/powerpoint/2010/main" val="6882845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1C8BB8-52CB-4071-B443-2EC209236695}"/>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Linux and Windows on EKS</a:t>
            </a:r>
          </a:p>
        </p:txBody>
      </p:sp>
      <p:sp>
        <p:nvSpPr>
          <p:cNvPr id="2" name="">
            <a:extLst xmlns:a="http://schemas.openxmlformats.org/drawingml/2006/main">
              <a:ext uri="{FF2B5EF4-FFF2-40B4-BE49-F238E27FC236}">
                <a16:creationId xmlns:a16="http://schemas.microsoft.com/office/drawing/2014/main" id="{60FFBCFC-217D-425C-B24B-94FAE156EA28}"/>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6617F0B4-C0BF-482A-B8C5-210B1FC22F5C}"/>
              </a:ext>
            </a:extLst>
          </p:cNvPr>
          <p:cNvSpPr>
            <a:spLocks xmlns:a="http://schemas.openxmlformats.org/drawingml/2006/main" noGrp="1"/>
          </p:cNvSpPr>
          <p:nvPr/>
        </p:nvSpPr>
        <p:spPr>
          <a:xfrm xmlns:a="http://schemas.openxmlformats.org/drawingml/2006/main">
            <a:off x="3333750" y="1428750"/>
            <a:ext cx="5524500" cy="714375"/>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AWS-managed EKS control plane</a:t>
            </a:r>
          </a:p>
        </p:txBody>
      </p:sp>
      <p:sp>
        <p:nvSpPr>
          <p:cNvPr id="4" name="">
            <a:extLst xmlns:a="http://schemas.openxmlformats.org/drawingml/2006/main">
              <a:ext uri="{FF2B5EF4-FFF2-40B4-BE49-F238E27FC236}">
                <a16:creationId xmlns:a16="http://schemas.microsoft.com/office/drawing/2014/main" id="{3571DD7E-A8FF-4D56-9D3F-1DB13086ECA3}"/>
              </a:ext>
            </a:extLst>
          </p:cNvPr>
          <p:cNvSpPr>
            <a:spLocks xmlns:a="http://schemas.openxmlformats.org/drawingml/2006/main" noGrp="1"/>
          </p:cNvSpPr>
          <p:nvPr/>
        </p:nvSpPr>
        <p:spPr>
          <a:xfrm xmlns:a="http://schemas.openxmlformats.org/drawingml/2006/main">
            <a:off x="952500" y="3238500"/>
            <a:ext cx="4572000" cy="2047875"/>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Linux node group</a:t>
            </a:r>
          </a:p>
          <a:p xmlns:a="http://schemas.openxmlformats.org/drawingml/2006/main">
            <a:r>
              <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APIs and controllers</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Pod Identity</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Multi-AZ placement</a:t>
            </a:r>
          </a:p>
        </p:txBody>
      </p:sp>
      <p:sp>
        <p:nvSpPr>
          <p:cNvPr id="5" name="">
            <a:extLst xmlns:a="http://schemas.openxmlformats.org/drawingml/2006/main">
              <a:ext uri="{FF2B5EF4-FFF2-40B4-BE49-F238E27FC236}">
                <a16:creationId xmlns:a16="http://schemas.microsoft.com/office/drawing/2014/main" id="{7BCD97EC-3F14-4C98-84ED-AD83CAACE4CF}"/>
              </a:ext>
            </a:extLst>
          </p:cNvPr>
          <p:cNvSpPr>
            <a:spLocks xmlns:a="http://schemas.openxmlformats.org/drawingml/2006/main" noGrp="1"/>
          </p:cNvSpPr>
          <p:nvPr/>
        </p:nvSpPr>
        <p:spPr>
          <a:xfrm xmlns:a="http://schemas.openxmlformats.org/drawingml/2006/main">
            <a:off x="6667500" y="3238500"/>
            <a:ext cx="4572000" cy="2047875"/>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Windows node group</a:t>
            </a:r>
          </a:p>
          <a:p xmlns:a="http://schemas.openxmlformats.org/drawingml/2006/main">
            <a:r>
              <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Compatible Windows images</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IRSA compatibility path</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Multi-AZ placement</a:t>
            </a:r>
          </a:p>
        </p:txBody>
      </p:sp>
      <p:cxnSp>
        <p:nvCxnSpPr>
          <p:cNvPr id="14" name=""/>
          <p:cNvCxnSpPr>
            <a:stCxn xmlns:a="http://schemas.openxmlformats.org/drawingml/2006/main" id="3" idx="2"/>
            <a:endCxn xmlns:a="http://schemas.openxmlformats.org/drawingml/2006/main" id="4" idx="0"/>
          </p:cNvCxnSpPr>
          <p:nvPr/>
        </p:nvCxnSpPr>
        <p:spPr>
          <a:xfrm xmlns:a="http://schemas.openxmlformats.org/drawingml/2006/main" flipH="1">
            <a:off x="3238500" y="2143125"/>
            <a:ext cx="2857500" cy="1095375"/>
          </a:xfrm>
          <a:prstGeom xmlns:a="http://schemas.openxmlformats.org/drawingml/2006/main" prst="bentConnector4">
            <a:avLst>
              <a:gd name="adj1" fmla="val 0"/>
              <a:gd name="adj2" fmla="val 50000"/>
            </a:avLst>
          </a:prstGeom>
          <a:ln xmlns:a="http://schemas.openxmlformats.org/drawingml/2006/main" w="23813">
            <a:solidFill>
              <a:srgbClr val="087F83"/>
            </a:solidFill>
            <a:tailEnd type="triangle" w="med" len="med"/>
          </a:ln>
        </p:spPr>
      </p:cxnSp>
      <p:cxnSp>
        <p:nvCxnSpPr>
          <p:cNvPr id="15" name=""/>
          <p:cNvCxnSpPr>
            <a:stCxn xmlns:a="http://schemas.openxmlformats.org/drawingml/2006/main" id="3" idx="2"/>
            <a:endCxn xmlns:a="http://schemas.openxmlformats.org/drawingml/2006/main" id="5" idx="0"/>
          </p:cNvCxnSpPr>
          <p:nvPr/>
        </p:nvCxnSpPr>
        <p:spPr>
          <a:xfrm xmlns:a="http://schemas.openxmlformats.org/drawingml/2006/main">
            <a:off x="6096000" y="2143125"/>
            <a:ext cx="2857500" cy="1095375"/>
          </a:xfrm>
          <a:prstGeom xmlns:a="http://schemas.openxmlformats.org/drawingml/2006/main" prst="bentConnector4">
            <a:avLst>
              <a:gd name="adj1" fmla="val 0"/>
              <a:gd name="adj2" fmla="val 50000"/>
            </a:avLst>
          </a:prstGeom>
          <a:ln xmlns:a="http://schemas.openxmlformats.org/drawingml/2006/main" w="23813">
            <a:solidFill>
              <a:srgbClr val="087F83"/>
            </a:solidFill>
            <a:tailEnd type="triangle" w="med" len="med"/>
          </a:ln>
        </p:spPr>
      </p:cxnSp>
      <p:sp>
        <p:nvSpPr>
          <p:cNvPr id="8" name="">
            <a:extLst xmlns:a="http://schemas.openxmlformats.org/drawingml/2006/main">
              <a:ext uri="{FF2B5EF4-FFF2-40B4-BE49-F238E27FC236}">
                <a16:creationId xmlns:a16="http://schemas.microsoft.com/office/drawing/2014/main" id="{7E19312A-C1AC-499B-A217-FE4F7B7B820F}"/>
              </a:ext>
            </a:extLst>
          </p:cNvPr>
          <p:cNvSpPr>
            <a:spLocks xmlns:a="http://schemas.openxmlformats.org/drawingml/2006/main" noGrp="1"/>
          </p:cNvSpPr>
          <p:nvPr/>
        </p:nvSpPr>
        <p:spPr>
          <a:xfrm xmlns:a="http://schemas.openxmlformats.org/drawingml/2006/main">
            <a:off x="619125" y="57721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087F83"/>
                </a:solidFill>
                <a:latin typeface="Helvetica Neue"/>
                <a:ea typeface="Helvetica Neue"/>
                <a:cs typeface="Helvetica Neue"/>
              </a:defRPr>
            </a:pPr>
            <a:r>
              <a:rPr sz="1875" b="0">
                <a:solidFill>
                  <a:srgbClr val="087F83"/>
                </a:solidFill>
                <a:latin typeface="Helvetica Neue"/>
                <a:ea typeface="Helvetica Neue"/>
                <a:cs typeface="Helvetica Neue"/>
              </a:rPr>
              <a:t>OS labels control placement. Windows CNI limits need explicit review.</a:t>
            </a:r>
          </a:p>
        </p:txBody>
      </p:sp>
    </p:spTree>
    <p:extLst>
      <p:ext uri="{BB962C8B-B14F-4D97-AF65-F5344CB8AC3E}">
        <p14:creationId xmlns:p14="http://schemas.microsoft.com/office/powerpoint/2010/main" val="16182771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EAE3663-143D-432C-BE26-4C1E1548C00D}"/>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Cross-account IAM model</a:t>
            </a:r>
          </a:p>
        </p:txBody>
      </p:sp>
      <p:sp>
        <p:nvSpPr>
          <p:cNvPr id="2" name="">
            <a:extLst xmlns:a="http://schemas.openxmlformats.org/drawingml/2006/main">
              <a:ext uri="{FF2B5EF4-FFF2-40B4-BE49-F238E27FC236}">
                <a16:creationId xmlns:a16="http://schemas.microsoft.com/office/drawing/2014/main" id="{EC4CD606-580F-4CF4-BD16-2A8869901086}"/>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61866CE1-8F79-4784-8EA5-4A044974CD1B}"/>
              </a:ext>
            </a:extLst>
          </p:cNvPr>
          <p:cNvSpPr>
            <a:spLocks xmlns:a="http://schemas.openxmlformats.org/drawingml/2006/main" noGrp="1"/>
          </p:cNvSpPr>
          <p:nvPr/>
        </p:nvSpPr>
        <p:spPr>
          <a:xfrm xmlns:a="http://schemas.openxmlformats.org/drawingml/2006/main">
            <a:off x="666750" y="1952625"/>
            <a:ext cx="3314700"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GitHub Actions</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OIDC identity</a:t>
            </a:r>
          </a:p>
        </p:txBody>
      </p:sp>
      <p:sp>
        <p:nvSpPr>
          <p:cNvPr id="4" name="">
            <a:extLst xmlns:a="http://schemas.openxmlformats.org/drawingml/2006/main">
              <a:ext uri="{FF2B5EF4-FFF2-40B4-BE49-F238E27FC236}">
                <a16:creationId xmlns:a16="http://schemas.microsoft.com/office/drawing/2014/main" id="{617B90E5-1F5F-4EF8-B630-99E68F1CA44F}"/>
              </a:ext>
            </a:extLst>
          </p:cNvPr>
          <p:cNvSpPr>
            <a:spLocks xmlns:a="http://schemas.openxmlformats.org/drawingml/2006/main" noGrp="1"/>
          </p:cNvSpPr>
          <p:nvPr/>
        </p:nvSpPr>
        <p:spPr>
          <a:xfrm xmlns:a="http://schemas.openxmlformats.org/drawingml/2006/main">
            <a:off x="4438650" y="1952625"/>
            <a:ext cx="3314700"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Target-account</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Deploy role</a:t>
            </a:r>
          </a:p>
        </p:txBody>
      </p:sp>
      <p:sp>
        <p:nvSpPr>
          <p:cNvPr id="5" name="">
            <a:extLst xmlns:a="http://schemas.openxmlformats.org/drawingml/2006/main">
              <a:ext uri="{FF2B5EF4-FFF2-40B4-BE49-F238E27FC236}">
                <a16:creationId xmlns:a16="http://schemas.microsoft.com/office/drawing/2014/main" id="{A9A98FFA-F80B-4707-AC74-19868B2FF0AE}"/>
              </a:ext>
            </a:extLst>
          </p:cNvPr>
          <p:cNvSpPr>
            <a:spLocks xmlns:a="http://schemas.openxmlformats.org/drawingml/2006/main" noGrp="1"/>
          </p:cNvSpPr>
          <p:nvPr/>
        </p:nvSpPr>
        <p:spPr>
          <a:xfrm xmlns:a="http://schemas.openxmlformats.org/drawingml/2006/main">
            <a:off x="8210550" y="1952625"/>
            <a:ext cx="3314700"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That environment</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AWS resources</a:t>
            </a:r>
          </a:p>
        </p:txBody>
      </p:sp>
      <p:cxnSp>
        <p:nvCxnSpPr>
          <p:cNvPr id="19" name=""/>
          <p:cNvCxnSpPr>
            <a:stCxn xmlns:a="http://schemas.openxmlformats.org/drawingml/2006/main" id="3" idx="3"/>
            <a:endCxn xmlns:a="http://schemas.openxmlformats.org/drawingml/2006/main" id="4" idx="1"/>
          </p:cNvCxnSpPr>
          <p:nvPr/>
        </p:nvCxnSpPr>
        <p:spPr>
          <a:xfrm xmlns:a="http://schemas.openxmlformats.org/drawingml/2006/main">
            <a:off x="3981450" y="2486025"/>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7753350" y="2486025"/>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sp>
        <p:nvSpPr>
          <p:cNvPr id="8" name="">
            <a:extLst xmlns:a="http://schemas.openxmlformats.org/drawingml/2006/main">
              <a:ext uri="{FF2B5EF4-FFF2-40B4-BE49-F238E27FC236}">
                <a16:creationId xmlns:a16="http://schemas.microsoft.com/office/drawing/2014/main" id="{1EADB3E7-054F-4034-87ED-8060679A0BBA}"/>
              </a:ext>
            </a:extLst>
          </p:cNvPr>
          <p:cNvSpPr>
            <a:spLocks xmlns:a="http://schemas.openxmlformats.org/drawingml/2006/main" noGrp="1"/>
          </p:cNvSpPr>
          <p:nvPr/>
        </p:nvSpPr>
        <p:spPr>
          <a:xfrm xmlns:a="http://schemas.openxmlformats.org/drawingml/2006/main">
            <a:off x="666750" y="4095750"/>
            <a:ext cx="3314700"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Pod service</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account / role</a:t>
            </a:r>
          </a:p>
        </p:txBody>
      </p:sp>
      <p:sp>
        <p:nvSpPr>
          <p:cNvPr id="9" name="">
            <a:extLst xmlns:a="http://schemas.openxmlformats.org/drawingml/2006/main">
              <a:ext uri="{FF2B5EF4-FFF2-40B4-BE49-F238E27FC236}">
                <a16:creationId xmlns:a16="http://schemas.microsoft.com/office/drawing/2014/main" id="{9BDC7F88-E048-47FA-852F-CA6CB84786F1}"/>
              </a:ext>
            </a:extLst>
          </p:cNvPr>
          <p:cNvSpPr>
            <a:spLocks xmlns:a="http://schemas.openxmlformats.org/drawingml/2006/main" noGrp="1"/>
          </p:cNvSpPr>
          <p:nvPr/>
        </p:nvSpPr>
        <p:spPr>
          <a:xfrm xmlns:a="http://schemas.openxmlformats.org/drawingml/2006/main">
            <a:off x="4438650" y="4095750"/>
            <a:ext cx="3314700"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Approved target</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AssumeRole</a:t>
            </a:r>
          </a:p>
        </p:txBody>
      </p:sp>
      <p:sp>
        <p:nvSpPr>
          <p:cNvPr id="10" name="">
            <a:extLst xmlns:a="http://schemas.openxmlformats.org/drawingml/2006/main">
              <a:ext uri="{FF2B5EF4-FFF2-40B4-BE49-F238E27FC236}">
                <a16:creationId xmlns:a16="http://schemas.microsoft.com/office/drawing/2014/main" id="{8F478FD2-C8BB-4ED4-BECE-B1316300A35E}"/>
              </a:ext>
            </a:extLst>
          </p:cNvPr>
          <p:cNvSpPr>
            <a:spLocks xmlns:a="http://schemas.openxmlformats.org/drawingml/2006/main" noGrp="1"/>
          </p:cNvSpPr>
          <p:nvPr/>
        </p:nvSpPr>
        <p:spPr>
          <a:xfrm xmlns:a="http://schemas.openxmlformats.org/drawingml/2006/main">
            <a:off x="8210550" y="4095750"/>
            <a:ext cx="3314700"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Shared resource</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Scoped access</a:t>
            </a:r>
          </a:p>
        </p:txBody>
      </p:sp>
      <p:cxnSp>
        <p:nvCxnSpPr>
          <p:cNvPr id="24" name=""/>
          <p:cNvCxnSpPr>
            <a:stCxn xmlns:a="http://schemas.openxmlformats.org/drawingml/2006/main" id="8" idx="3"/>
            <a:endCxn xmlns:a="http://schemas.openxmlformats.org/drawingml/2006/main" id="9" idx="1"/>
          </p:cNvCxnSpPr>
          <p:nvPr/>
        </p:nvCxnSpPr>
        <p:spPr>
          <a:xfrm xmlns:a="http://schemas.openxmlformats.org/drawingml/2006/main">
            <a:off x="3981450" y="4629150"/>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25" name=""/>
          <p:cNvCxnSpPr>
            <a:stCxn xmlns:a="http://schemas.openxmlformats.org/drawingml/2006/main" id="9" idx="3"/>
            <a:endCxn xmlns:a="http://schemas.openxmlformats.org/drawingml/2006/main" id="10" idx="1"/>
          </p:cNvCxnSpPr>
          <p:nvPr/>
        </p:nvCxnSpPr>
        <p:spPr>
          <a:xfrm xmlns:a="http://schemas.openxmlformats.org/drawingml/2006/main">
            <a:off x="7753350" y="4629150"/>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sp>
        <p:nvSpPr>
          <p:cNvPr id="13" name="">
            <a:extLst xmlns:a="http://schemas.openxmlformats.org/drawingml/2006/main">
              <a:ext uri="{FF2B5EF4-FFF2-40B4-BE49-F238E27FC236}">
                <a16:creationId xmlns:a16="http://schemas.microsoft.com/office/drawing/2014/main" id="{5110F2ED-0296-4782-91C8-A07492817E09}"/>
              </a:ext>
            </a:extLst>
          </p:cNvPr>
          <p:cNvSpPr>
            <a:spLocks xmlns:a="http://schemas.openxmlformats.org/drawingml/2006/main" noGrp="1"/>
          </p:cNvSpPr>
          <p:nvPr/>
        </p:nvSpPr>
        <p:spPr>
          <a:xfrm xmlns:a="http://schemas.openxmlformats.org/drawingml/2006/main">
            <a:off x="619125" y="57626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SCPs and permission boundaries limit access; IAM policies grant it</a:t>
            </a:r>
          </a:p>
        </p:txBody>
      </p:sp>
    </p:spTree>
    <p:extLst>
      <p:ext uri="{BB962C8B-B14F-4D97-AF65-F5344CB8AC3E}">
        <p14:creationId xmlns:p14="http://schemas.microsoft.com/office/powerpoint/2010/main" val="14090112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1EAA1F-A244-4BF4-A890-CEC13D5E94D4}"/>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Separate Terraform repositories</a:t>
            </a:r>
          </a:p>
        </p:txBody>
      </p:sp>
      <p:sp>
        <p:nvSpPr>
          <p:cNvPr id="2" name="">
            <a:extLst xmlns:a="http://schemas.openxmlformats.org/drawingml/2006/main">
              <a:ext uri="{FF2B5EF4-FFF2-40B4-BE49-F238E27FC236}">
                <a16:creationId xmlns:a16="http://schemas.microsoft.com/office/drawing/2014/main" id="{7ADD14D9-9222-4372-9738-24EC97F35EFC}"/>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8F5EDDC9-AC40-470A-8889-8BDE61FE771E}"/>
              </a:ext>
            </a:extLst>
          </p:cNvPr>
          <p:cNvSpPr>
            <a:spLocks xmlns:a="http://schemas.openxmlformats.org/drawingml/2006/main" noGrp="1"/>
          </p:cNvSpPr>
          <p:nvPr/>
        </p:nvSpPr>
        <p:spPr>
          <a:xfrm xmlns:a="http://schemas.openxmlformats.org/drawingml/2006/main">
            <a:off x="666750" y="1666875"/>
            <a:ext cx="4762500" cy="28575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Reusable modules repository</a:t>
            </a:r>
          </a:p>
          <a:p xmlns:a="http://schemas.openxmlformats.org/drawingml/2006/main">
            <a:r>
              <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modules/</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  vpc/  tgw/  firewall/</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  eks/  iam/  observability/</a:t>
            </a:r>
          </a:p>
          <a:p xmlns:a="http://schemas.openxmlformats.org/drawingml/2006/main">
            <a:r>
              <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Each module: main.tf, variables.tf, outputs.tf, versions.tf</a:t>
            </a:r>
          </a:p>
        </p:txBody>
      </p:sp>
      <p:sp>
        <p:nvSpPr>
          <p:cNvPr id="4" name="">
            <a:extLst xmlns:a="http://schemas.openxmlformats.org/drawingml/2006/main">
              <a:ext uri="{FF2B5EF4-FFF2-40B4-BE49-F238E27FC236}">
                <a16:creationId xmlns:a16="http://schemas.microsoft.com/office/drawing/2014/main" id="{6956BE4E-E8D9-4C3D-AC49-4D07B2B39141}"/>
              </a:ext>
            </a:extLst>
          </p:cNvPr>
          <p:cNvSpPr>
            <a:spLocks xmlns:a="http://schemas.openxmlformats.org/drawingml/2006/main" noGrp="1"/>
          </p:cNvSpPr>
          <p:nvPr/>
        </p:nvSpPr>
        <p:spPr>
          <a:xfrm xmlns:a="http://schemas.openxmlformats.org/drawingml/2006/main">
            <a:off x="6762750" y="1666875"/>
            <a:ext cx="4762500" cy="28575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Account / foundation repository</a:t>
            </a:r>
          </a:p>
          <a:p xmlns:a="http://schemas.openxmlformats.org/drawingml/2006/main">
            <a:r>
              <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management/  network/  security/</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platform/</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environments/dev/</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environments/staging/</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environments/prod/</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backend/  policies/</a:t>
            </a:r>
          </a:p>
        </p:txBody>
      </p:sp>
      <p:sp>
        <p:nvSpPr>
          <p:cNvPr id="5" name="">
            <a:extLst xmlns:a="http://schemas.openxmlformats.org/drawingml/2006/main">
              <a:ext uri="{FF2B5EF4-FFF2-40B4-BE49-F238E27FC236}">
                <a16:creationId xmlns:a16="http://schemas.microsoft.com/office/drawing/2014/main" id="{75DA2040-43A3-42FB-BABF-A967A4B094C4}"/>
              </a:ext>
            </a:extLst>
          </p:cNvPr>
          <p:cNvSpPr>
            <a:spLocks xmlns:a="http://schemas.openxmlformats.org/drawingml/2006/main" noGrp="1"/>
          </p:cNvSpPr>
          <p:nvPr/>
        </p:nvSpPr>
        <p:spPr>
          <a:xfrm xmlns:a="http://schemas.openxmlformats.org/drawingml/2006/main">
            <a:off x="666750" y="50958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3"/>
                </a:solidFill>
                <a:latin typeface="Helvetica Neue"/>
                <a:ea typeface="Helvetica Neue"/>
                <a:cs typeface="Helvetica Neue"/>
              </a:defRPr>
            </a:pPr>
            <a:r>
              <a:rPr sz="2100" b="1">
                <a:solidFill>
                  <a:srgbClr val="087F83"/>
                </a:solidFill>
                <a:latin typeface="Helvetica Neue"/>
                <a:ea typeface="Helvetica Neue"/>
                <a:cs typeface="Helvetica Neue"/>
              </a:rPr>
              <a:t>Versioned module calls flow into every account root</a:t>
            </a:r>
          </a:p>
        </p:txBody>
      </p:sp>
      <p:sp>
        <p:nvSpPr>
          <p:cNvPr id="6" name="">
            <a:extLst xmlns:a="http://schemas.openxmlformats.org/drawingml/2006/main">
              <a:ext uri="{FF2B5EF4-FFF2-40B4-BE49-F238E27FC236}">
                <a16:creationId xmlns:a16="http://schemas.microsoft.com/office/drawing/2014/main" id="{161280A7-6C1C-4E6D-94C4-57FC3BBFC017}"/>
              </a:ext>
            </a:extLst>
          </p:cNvPr>
          <p:cNvSpPr>
            <a:spLocks xmlns:a="http://schemas.openxmlformats.org/drawingml/2006/main" noGrp="1"/>
          </p:cNvSpPr>
          <p:nvPr/>
        </p:nvSpPr>
        <p:spPr>
          <a:xfrm xmlns:a="http://schemas.openxmlformats.org/drawingml/2006/main">
            <a:off x="666750" y="57150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Application repository is separate: charts/  values/  argocd/</a:t>
            </a:r>
          </a:p>
        </p:txBody>
      </p:sp>
    </p:spTree>
    <p:extLst>
      <p:ext uri="{BB962C8B-B14F-4D97-AF65-F5344CB8AC3E}">
        <p14:creationId xmlns:p14="http://schemas.microsoft.com/office/powerpoint/2010/main" val="6497444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B61991-79C4-4F21-96FA-73BA48C75EEE}"/>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Terraform change and state flow</a:t>
            </a:r>
          </a:p>
        </p:txBody>
      </p:sp>
      <p:sp>
        <p:nvSpPr>
          <p:cNvPr id="2" name="">
            <a:extLst xmlns:a="http://schemas.openxmlformats.org/drawingml/2006/main">
              <a:ext uri="{FF2B5EF4-FFF2-40B4-BE49-F238E27FC236}">
                <a16:creationId xmlns:a16="http://schemas.microsoft.com/office/drawing/2014/main" id="{C5759833-3EA7-4B51-B21C-CC8CA050F53E}"/>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F2685D1F-681F-4D1D-9BB8-2C72A983BC55}"/>
              </a:ext>
            </a:extLst>
          </p:cNvPr>
          <p:cNvSpPr>
            <a:spLocks xmlns:a="http://schemas.openxmlformats.org/drawingml/2006/main" noGrp="1"/>
          </p:cNvSpPr>
          <p:nvPr/>
        </p:nvSpPr>
        <p:spPr>
          <a:xfrm xmlns:a="http://schemas.openxmlformats.org/drawingml/2006/main">
            <a:off x="666750" y="2095500"/>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Pull request</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Terraform change</a:t>
            </a:r>
          </a:p>
        </p:txBody>
      </p:sp>
      <p:sp>
        <p:nvSpPr>
          <p:cNvPr id="4" name="">
            <a:extLst xmlns:a="http://schemas.openxmlformats.org/drawingml/2006/main">
              <a:ext uri="{FF2B5EF4-FFF2-40B4-BE49-F238E27FC236}">
                <a16:creationId xmlns:a16="http://schemas.microsoft.com/office/drawing/2014/main" id="{478CACC2-259C-4F21-AF57-DDD7B47C494A}"/>
              </a:ext>
            </a:extLst>
          </p:cNvPr>
          <p:cNvSpPr>
            <a:spLocks xmlns:a="http://schemas.openxmlformats.org/drawingml/2006/main" noGrp="1"/>
          </p:cNvSpPr>
          <p:nvPr/>
        </p:nvSpPr>
        <p:spPr>
          <a:xfrm xmlns:a="http://schemas.openxmlformats.org/drawingml/2006/main">
            <a:off x="3495675" y="2095500"/>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Validate + scan</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Checkov / OPA</a:t>
            </a:r>
          </a:p>
        </p:txBody>
      </p:sp>
      <p:sp>
        <p:nvSpPr>
          <p:cNvPr id="5" name="">
            <a:extLst xmlns:a="http://schemas.openxmlformats.org/drawingml/2006/main">
              <a:ext uri="{FF2B5EF4-FFF2-40B4-BE49-F238E27FC236}">
                <a16:creationId xmlns:a16="http://schemas.microsoft.com/office/drawing/2014/main" id="{61EFAF92-94C1-4FEB-B153-E9697176A03B}"/>
              </a:ext>
            </a:extLst>
          </p:cNvPr>
          <p:cNvSpPr>
            <a:spLocks xmlns:a="http://schemas.openxmlformats.org/drawingml/2006/main" noGrp="1"/>
          </p:cNvSpPr>
          <p:nvPr/>
        </p:nvSpPr>
        <p:spPr>
          <a:xfrm xmlns:a="http://schemas.openxmlformats.org/drawingml/2006/main">
            <a:off x="6324600" y="2095500"/>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Plan review</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Approval</a:t>
            </a:r>
          </a:p>
        </p:txBody>
      </p:sp>
      <p:sp>
        <p:nvSpPr>
          <p:cNvPr id="6" name="">
            <a:extLst xmlns:a="http://schemas.openxmlformats.org/drawingml/2006/main">
              <a:ext uri="{FF2B5EF4-FFF2-40B4-BE49-F238E27FC236}">
                <a16:creationId xmlns:a16="http://schemas.microsoft.com/office/drawing/2014/main" id="{A0F67DC4-7579-4761-B201-DF7D4B5594FB}"/>
              </a:ext>
            </a:extLst>
          </p:cNvPr>
          <p:cNvSpPr>
            <a:spLocks xmlns:a="http://schemas.openxmlformats.org/drawingml/2006/main" noGrp="1"/>
          </p:cNvSpPr>
          <p:nvPr/>
        </p:nvSpPr>
        <p:spPr>
          <a:xfrm xmlns:a="http://schemas.openxmlformats.org/drawingml/2006/main">
            <a:off x="9153525" y="2095500"/>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Apply</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Reviewed plan</a:t>
            </a:r>
          </a:p>
        </p:txBody>
      </p:sp>
      <p:cxnSp>
        <p:nvCxnSpPr>
          <p:cNvPr id="19" name=""/>
          <p:cNvCxnSpPr>
            <a:stCxn xmlns:a="http://schemas.openxmlformats.org/drawingml/2006/main" id="3" idx="3"/>
            <a:endCxn xmlns:a="http://schemas.openxmlformats.org/drawingml/2006/main" id="4" idx="1"/>
          </p:cNvCxnSpPr>
          <p:nvPr/>
        </p:nvCxnSpPr>
        <p:spPr>
          <a:xfrm xmlns:a="http://schemas.openxmlformats.org/drawingml/2006/main">
            <a:off x="3038475" y="2628900"/>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5867400" y="2628900"/>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8696325" y="2628900"/>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sp>
        <p:nvSpPr>
          <p:cNvPr id="10" name="">
            <a:extLst xmlns:a="http://schemas.openxmlformats.org/drawingml/2006/main">
              <a:ext uri="{FF2B5EF4-FFF2-40B4-BE49-F238E27FC236}">
                <a16:creationId xmlns:a16="http://schemas.microsoft.com/office/drawing/2014/main" id="{29E6B4FA-164F-4EEF-A2F2-A5235599CDE2}"/>
              </a:ext>
            </a:extLst>
          </p:cNvPr>
          <p:cNvSpPr>
            <a:spLocks xmlns:a="http://schemas.openxmlformats.org/drawingml/2006/main" noGrp="1"/>
          </p:cNvSpPr>
          <p:nvPr/>
        </p:nvSpPr>
        <p:spPr>
          <a:xfrm xmlns:a="http://schemas.openxmlformats.org/drawingml/2006/main">
            <a:off x="619125" y="3952875"/>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A"/>
                </a:solidFill>
                <a:latin typeface="Helvetica Neue"/>
                <a:ea typeface="Helvetica Neue"/>
                <a:cs typeface="Helvetica Neue"/>
              </a:defRPr>
            </a:pPr>
            <a:r>
              <a:rPr sz="2025" b="0">
                <a:solidFill>
                  <a:srgbClr val="18364A"/>
                </a:solidFill>
                <a:latin typeface="Helvetica Neue"/>
                <a:ea typeface="Helvetica Neue"/>
                <a:cs typeface="Helvetica Neue"/>
              </a:rPr>
              <a:t>Separate encrypted, versioned S3 state per account and stack</a:t>
            </a:r>
          </a:p>
        </p:txBody>
      </p:sp>
      <p:sp>
        <p:nvSpPr>
          <p:cNvPr id="11" name="">
            <a:extLst xmlns:a="http://schemas.openxmlformats.org/drawingml/2006/main">
              <a:ext uri="{FF2B5EF4-FFF2-40B4-BE49-F238E27FC236}">
                <a16:creationId xmlns:a16="http://schemas.microsoft.com/office/drawing/2014/main" id="{256B769D-FC91-4A2B-B65E-54F0FBE80DC9}"/>
              </a:ext>
            </a:extLst>
          </p:cNvPr>
          <p:cNvSpPr>
            <a:spLocks xmlns:a="http://schemas.openxmlformats.org/drawingml/2006/main" noGrp="1"/>
          </p:cNvSpPr>
          <p:nvPr/>
        </p:nvSpPr>
        <p:spPr>
          <a:xfrm xmlns:a="http://schemas.openxmlformats.org/drawingml/2006/main">
            <a:off x="619125" y="47625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A"/>
                </a:solidFill>
                <a:latin typeface="Helvetica Neue"/>
                <a:ea typeface="Helvetica Neue"/>
                <a:cs typeface="Helvetica Neue"/>
              </a:defRPr>
            </a:pPr>
            <a:r>
              <a:rPr sz="2025" b="0">
                <a:solidFill>
                  <a:srgbClr val="18364A"/>
                </a:solidFill>
                <a:latin typeface="Helvetica Neue"/>
                <a:ea typeface="Helvetica Neue"/>
                <a:cs typeface="Helvetica Neue"/>
              </a:rPr>
              <a:t>Assignment baseline: DynamoDB lock; agree native S3 locking</a:t>
            </a:r>
          </a:p>
        </p:txBody>
      </p:sp>
      <p:sp>
        <p:nvSpPr>
          <p:cNvPr id="12" name="">
            <a:extLst xmlns:a="http://schemas.openxmlformats.org/drawingml/2006/main">
              <a:ext uri="{FF2B5EF4-FFF2-40B4-BE49-F238E27FC236}">
                <a16:creationId xmlns:a16="http://schemas.microsoft.com/office/drawing/2014/main" id="{D87D78BE-A97C-4202-A8FA-1FF473660569}"/>
              </a:ext>
            </a:extLst>
          </p:cNvPr>
          <p:cNvSpPr>
            <a:spLocks xmlns:a="http://schemas.openxmlformats.org/drawingml/2006/main" noGrp="1"/>
          </p:cNvSpPr>
          <p:nvPr/>
        </p:nvSpPr>
        <p:spPr>
          <a:xfrm xmlns:a="http://schemas.openxmlformats.org/drawingml/2006/main">
            <a:off x="619125" y="56388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3"/>
                </a:solidFill>
                <a:latin typeface="Helvetica Neue"/>
                <a:ea typeface="Helvetica Neue"/>
                <a:cs typeface="Helvetica Neue"/>
              </a:defRPr>
            </a:pPr>
            <a:r>
              <a:rPr sz="2100" b="1">
                <a:solidFill>
                  <a:srgbClr val="087F83"/>
                </a:solidFill>
                <a:latin typeface="Helvetica Neue"/>
                <a:ea typeface="Helvetica Neue"/>
                <a:cs typeface="Helvetica Neue"/>
              </a:rPr>
              <a:t>Dev approval cannot authorize a production apply</a:t>
            </a:r>
          </a:p>
        </p:txBody>
      </p:sp>
    </p:spTree>
    <p:extLst>
      <p:ext uri="{BB962C8B-B14F-4D97-AF65-F5344CB8AC3E}">
        <p14:creationId xmlns:p14="http://schemas.microsoft.com/office/powerpoint/2010/main" val="182034769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1977739-545B-40EB-8CB4-F9554A3D1CD7}"/>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Application CI: Veracode and release gates</a:t>
            </a:r>
          </a:p>
        </p:txBody>
      </p:sp>
      <p:sp>
        <p:nvSpPr>
          <p:cNvPr id="2" name="">
            <a:extLst xmlns:a="http://schemas.openxmlformats.org/drawingml/2006/main">
              <a:ext uri="{FF2B5EF4-FFF2-40B4-BE49-F238E27FC236}">
                <a16:creationId xmlns:a16="http://schemas.microsoft.com/office/drawing/2014/main" id="{DD1EA418-A0AD-4956-8DED-2F4CBD7D28AE}"/>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2825E2BB-57F0-4AB0-9359-B5FA7FBFBBF3}"/>
              </a:ext>
            </a:extLst>
          </p:cNvPr>
          <p:cNvSpPr>
            <a:spLocks xmlns:a="http://schemas.openxmlformats.org/drawingml/2006/main" noGrp="1"/>
          </p:cNvSpPr>
          <p:nvPr/>
        </p:nvSpPr>
        <p:spPr>
          <a:xfrm xmlns:a="http://schemas.openxmlformats.org/drawingml/2006/main">
            <a:off x="666750" y="2238375"/>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Code PR</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Review</a:t>
            </a:r>
          </a:p>
        </p:txBody>
      </p:sp>
      <p:sp>
        <p:nvSpPr>
          <p:cNvPr id="4" name="">
            <a:extLst xmlns:a="http://schemas.openxmlformats.org/drawingml/2006/main">
              <a:ext uri="{FF2B5EF4-FFF2-40B4-BE49-F238E27FC236}">
                <a16:creationId xmlns:a16="http://schemas.microsoft.com/office/drawing/2014/main" id="{79A7D8F3-B397-4C70-89B2-AE16D981E054}"/>
              </a:ext>
            </a:extLst>
          </p:cNvPr>
          <p:cNvSpPr>
            <a:spLocks xmlns:a="http://schemas.openxmlformats.org/drawingml/2006/main" noGrp="1"/>
          </p:cNvSpPr>
          <p:nvPr/>
        </p:nvSpPr>
        <p:spPr>
          <a:xfrm xmlns:a="http://schemas.openxmlformats.org/drawingml/2006/main">
            <a:off x="3495675" y="2238375"/>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Veracode</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SAST / SCA / IaC</a:t>
            </a:r>
          </a:p>
        </p:txBody>
      </p:sp>
      <p:sp>
        <p:nvSpPr>
          <p:cNvPr id="5" name="">
            <a:extLst xmlns:a="http://schemas.openxmlformats.org/drawingml/2006/main">
              <a:ext uri="{FF2B5EF4-FFF2-40B4-BE49-F238E27FC236}">
                <a16:creationId xmlns:a16="http://schemas.microsoft.com/office/drawing/2014/main" id="{380B2BA3-E982-411D-9653-F78AA7EB13F3}"/>
              </a:ext>
            </a:extLst>
          </p:cNvPr>
          <p:cNvSpPr>
            <a:spLocks xmlns:a="http://schemas.openxmlformats.org/drawingml/2006/main" noGrp="1"/>
          </p:cNvSpPr>
          <p:nvPr/>
        </p:nvSpPr>
        <p:spPr>
          <a:xfrm xmlns:a="http://schemas.openxmlformats.org/drawingml/2006/main">
            <a:off x="6324600" y="2238375"/>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Build + scan</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Container / secrets</a:t>
            </a:r>
          </a:p>
        </p:txBody>
      </p:sp>
      <p:sp>
        <p:nvSpPr>
          <p:cNvPr id="6" name="">
            <a:extLst xmlns:a="http://schemas.openxmlformats.org/drawingml/2006/main">
              <a:ext uri="{FF2B5EF4-FFF2-40B4-BE49-F238E27FC236}">
                <a16:creationId xmlns:a16="http://schemas.microsoft.com/office/drawing/2014/main" id="{9C862EAF-EA7F-4D96-94EF-5B9E386B52A1}"/>
              </a:ext>
            </a:extLst>
          </p:cNvPr>
          <p:cNvSpPr>
            <a:spLocks xmlns:a="http://schemas.openxmlformats.org/drawingml/2006/main" noGrp="1"/>
          </p:cNvSpPr>
          <p:nvPr/>
        </p:nvSpPr>
        <p:spPr>
          <a:xfrm xmlns:a="http://schemas.openxmlformats.org/drawingml/2006/main">
            <a:off x="9153525" y="2238375"/>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ECR</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Immutable digest</a:t>
            </a:r>
          </a:p>
        </p:txBody>
      </p:sp>
      <p:cxnSp>
        <p:nvCxnSpPr>
          <p:cNvPr id="19" name=""/>
          <p:cNvCxnSpPr>
            <a:stCxn xmlns:a="http://schemas.openxmlformats.org/drawingml/2006/main" id="3" idx="3"/>
            <a:endCxn xmlns:a="http://schemas.openxmlformats.org/drawingml/2006/main" id="4" idx="1"/>
          </p:cNvCxnSpPr>
          <p:nvPr/>
        </p:nvCxnSpPr>
        <p:spPr>
          <a:xfrm xmlns:a="http://schemas.openxmlformats.org/drawingml/2006/main">
            <a:off x="3038475" y="2771775"/>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5867400" y="2771775"/>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8696325" y="2771775"/>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sp>
        <p:nvSpPr>
          <p:cNvPr id="10" name="">
            <a:extLst xmlns:a="http://schemas.openxmlformats.org/drawingml/2006/main">
              <a:ext uri="{FF2B5EF4-FFF2-40B4-BE49-F238E27FC236}">
                <a16:creationId xmlns:a16="http://schemas.microsoft.com/office/drawing/2014/main" id="{E1303A46-823F-47DA-A073-48242B1FBE25}"/>
              </a:ext>
            </a:extLst>
          </p:cNvPr>
          <p:cNvSpPr>
            <a:spLocks xmlns:a="http://schemas.openxmlformats.org/drawingml/2006/main" noGrp="1"/>
          </p:cNvSpPr>
          <p:nvPr/>
        </p:nvSpPr>
        <p:spPr>
          <a:xfrm xmlns:a="http://schemas.openxmlformats.org/drawingml/2006/main">
            <a:off x="619125" y="3952875"/>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A"/>
                </a:solidFill>
                <a:latin typeface="Helvetica Neue"/>
                <a:ea typeface="Helvetica Neue"/>
                <a:cs typeface="Helvetica Neue"/>
              </a:defRPr>
            </a:pPr>
            <a:r>
              <a:rPr sz="2025" b="0">
                <a:solidFill>
                  <a:srgbClr val="18364A"/>
                </a:solidFill>
                <a:latin typeface="Helvetica Neue"/>
                <a:ea typeface="Helvetica Neue"/>
                <a:cs typeface="Helvetica Neue"/>
              </a:rPr>
              <a:t>Policy failure blocks publishing or promotion</a:t>
            </a:r>
          </a:p>
        </p:txBody>
      </p:sp>
      <p:sp>
        <p:nvSpPr>
          <p:cNvPr id="11" name="">
            <a:extLst xmlns:a="http://schemas.openxmlformats.org/drawingml/2006/main">
              <a:ext uri="{FF2B5EF4-FFF2-40B4-BE49-F238E27FC236}">
                <a16:creationId xmlns:a16="http://schemas.microsoft.com/office/drawing/2014/main" id="{B13D055A-D3DF-45F3-8FAA-ADFE4AFE2A38}"/>
              </a:ext>
            </a:extLst>
          </p:cNvPr>
          <p:cNvSpPr>
            <a:spLocks xmlns:a="http://schemas.openxmlformats.org/drawingml/2006/main" noGrp="1"/>
          </p:cNvSpPr>
          <p:nvPr/>
        </p:nvSpPr>
        <p:spPr>
          <a:xfrm xmlns:a="http://schemas.openxmlformats.org/drawingml/2006/main">
            <a:off x="619125" y="46672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A"/>
                </a:solidFill>
                <a:latin typeface="Helvetica Neue"/>
                <a:ea typeface="Helvetica Neue"/>
                <a:cs typeface="Helvetica Neue"/>
              </a:defRPr>
            </a:pPr>
            <a:r>
              <a:rPr sz="2025" b="0">
                <a:solidFill>
                  <a:srgbClr val="18364A"/>
                </a:solidFill>
                <a:latin typeface="Helvetica Neue"/>
                <a:ea typeface="Helvetica Neue"/>
                <a:cs typeface="Helvetica Neue"/>
              </a:rPr>
              <a:t>CI output: tested image, scan evidence and GitOps change request</a:t>
            </a:r>
          </a:p>
        </p:txBody>
      </p:sp>
      <p:sp>
        <p:nvSpPr>
          <p:cNvPr id="12" name="">
            <a:extLst xmlns:a="http://schemas.openxmlformats.org/drawingml/2006/main">
              <a:ext uri="{FF2B5EF4-FFF2-40B4-BE49-F238E27FC236}">
                <a16:creationId xmlns:a16="http://schemas.microsoft.com/office/drawing/2014/main" id="{08E1CA20-96E0-4BFD-842E-34A2B0570ED1}"/>
              </a:ext>
            </a:extLst>
          </p:cNvPr>
          <p:cNvSpPr>
            <a:spLocks xmlns:a="http://schemas.openxmlformats.org/drawingml/2006/main" noGrp="1"/>
          </p:cNvSpPr>
          <p:nvPr/>
        </p:nvSpPr>
        <p:spPr>
          <a:xfrm xmlns:a="http://schemas.openxmlformats.org/drawingml/2006/main">
            <a:off x="619125" y="56007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Use the client-approved scanner. Do not claim every Veracode capability is enabled until confirmed.</a:t>
            </a:r>
          </a:p>
        </p:txBody>
      </p:sp>
    </p:spTree>
    <p:extLst>
      <p:ext uri="{BB962C8B-B14F-4D97-AF65-F5344CB8AC3E}">
        <p14:creationId xmlns:p14="http://schemas.microsoft.com/office/powerpoint/2010/main" val="16047992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51DC1C9-1707-424B-B7EB-BD0EE1B8A062}"/>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Application CD: Helm and Argo CD</a:t>
            </a:r>
          </a:p>
        </p:txBody>
      </p:sp>
      <p:sp>
        <p:nvSpPr>
          <p:cNvPr id="2" name="">
            <a:extLst xmlns:a="http://schemas.openxmlformats.org/drawingml/2006/main">
              <a:ext uri="{FF2B5EF4-FFF2-40B4-BE49-F238E27FC236}">
                <a16:creationId xmlns:a16="http://schemas.microsoft.com/office/drawing/2014/main" id="{CB78CD5F-951D-4A15-9449-0EB60A84AC67}"/>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C2C02E9C-C713-4880-A612-EE8266DBF208}"/>
              </a:ext>
            </a:extLst>
          </p:cNvPr>
          <p:cNvSpPr>
            <a:spLocks xmlns:a="http://schemas.openxmlformats.org/drawingml/2006/main" noGrp="1"/>
          </p:cNvSpPr>
          <p:nvPr/>
        </p:nvSpPr>
        <p:spPr>
          <a:xfrm xmlns:a="http://schemas.openxmlformats.org/drawingml/2006/main">
            <a:off x="666750" y="1905000"/>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GitOps PR</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Image + values</a:t>
            </a:r>
          </a:p>
        </p:txBody>
      </p:sp>
      <p:sp>
        <p:nvSpPr>
          <p:cNvPr id="4" name="">
            <a:extLst xmlns:a="http://schemas.openxmlformats.org/drawingml/2006/main">
              <a:ext uri="{FF2B5EF4-FFF2-40B4-BE49-F238E27FC236}">
                <a16:creationId xmlns:a16="http://schemas.microsoft.com/office/drawing/2014/main" id="{6B5E6188-5B74-4219-AC92-1B70251B1BD8}"/>
              </a:ext>
            </a:extLst>
          </p:cNvPr>
          <p:cNvSpPr>
            <a:spLocks xmlns:a="http://schemas.openxmlformats.org/drawingml/2006/main" noGrp="1"/>
          </p:cNvSpPr>
          <p:nvPr/>
        </p:nvSpPr>
        <p:spPr>
          <a:xfrm xmlns:a="http://schemas.openxmlformats.org/drawingml/2006/main">
            <a:off x="3495675" y="1905000"/>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Environment</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Approval</a:t>
            </a:r>
          </a:p>
        </p:txBody>
      </p:sp>
      <p:sp>
        <p:nvSpPr>
          <p:cNvPr id="5" name="">
            <a:extLst xmlns:a="http://schemas.openxmlformats.org/drawingml/2006/main">
              <a:ext uri="{FF2B5EF4-FFF2-40B4-BE49-F238E27FC236}">
                <a16:creationId xmlns:a16="http://schemas.microsoft.com/office/drawing/2014/main" id="{F3889908-0C55-43D5-8D41-EB630BBC6333}"/>
              </a:ext>
            </a:extLst>
          </p:cNvPr>
          <p:cNvSpPr>
            <a:spLocks xmlns:a="http://schemas.openxmlformats.org/drawingml/2006/main" noGrp="1"/>
          </p:cNvSpPr>
          <p:nvPr/>
        </p:nvSpPr>
        <p:spPr>
          <a:xfrm xmlns:a="http://schemas.openxmlformats.org/drawingml/2006/main">
            <a:off x="6324600" y="1905000"/>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Argo CD</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Renders Helm</a:t>
            </a:r>
          </a:p>
        </p:txBody>
      </p:sp>
      <p:sp>
        <p:nvSpPr>
          <p:cNvPr id="6" name="">
            <a:extLst xmlns:a="http://schemas.openxmlformats.org/drawingml/2006/main">
              <a:ext uri="{FF2B5EF4-FFF2-40B4-BE49-F238E27FC236}">
                <a16:creationId xmlns:a16="http://schemas.microsoft.com/office/drawing/2014/main" id="{A35B263B-1D79-4110-B6A2-F04B376EEF4B}"/>
              </a:ext>
            </a:extLst>
          </p:cNvPr>
          <p:cNvSpPr>
            <a:spLocks xmlns:a="http://schemas.openxmlformats.org/drawingml/2006/main" noGrp="1"/>
          </p:cNvSpPr>
          <p:nvPr/>
        </p:nvSpPr>
        <p:spPr>
          <a:xfrm xmlns:a="http://schemas.openxmlformats.org/drawingml/2006/main">
            <a:off x="9153525" y="1905000"/>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EKS</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Health checks</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3038475" y="2438400"/>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5867400" y="2438400"/>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8696325" y="2438400"/>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sp>
        <p:nvSpPr>
          <p:cNvPr id="10" name="">
            <a:extLst xmlns:a="http://schemas.openxmlformats.org/drawingml/2006/main">
              <a:ext uri="{FF2B5EF4-FFF2-40B4-BE49-F238E27FC236}">
                <a16:creationId xmlns:a16="http://schemas.microsoft.com/office/drawing/2014/main" id="{8A72F272-70F9-4FEF-9A9A-572314798442}"/>
              </a:ext>
            </a:extLst>
          </p:cNvPr>
          <p:cNvSpPr>
            <a:spLocks xmlns:a="http://schemas.openxmlformats.org/drawingml/2006/main" noGrp="1"/>
          </p:cNvSpPr>
          <p:nvPr/>
        </p:nvSpPr>
        <p:spPr>
          <a:xfrm xmlns:a="http://schemas.openxmlformats.org/drawingml/2006/main">
            <a:off x="666750" y="34766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83"/>
                </a:solidFill>
                <a:latin typeface="Helvetica Neue"/>
                <a:ea typeface="Helvetica Neue"/>
                <a:cs typeface="Helvetica Neue"/>
              </a:defRPr>
            </a:pPr>
            <a:r>
              <a:rPr sz="2175" b="1">
                <a:solidFill>
                  <a:srgbClr val="087F83"/>
                </a:solidFill>
                <a:latin typeface="Helvetica Neue"/>
                <a:ea typeface="Helvetica Neue"/>
                <a:cs typeface="Helvetica Neue"/>
              </a:rPr>
              <a:t>Promote the same image digest</a:t>
            </a:r>
          </a:p>
        </p:txBody>
      </p:sp>
      <p:sp>
        <p:nvSpPr>
          <p:cNvPr id="11" name="">
            <a:extLst xmlns:a="http://schemas.openxmlformats.org/drawingml/2006/main">
              <a:ext uri="{FF2B5EF4-FFF2-40B4-BE49-F238E27FC236}">
                <a16:creationId xmlns:a16="http://schemas.microsoft.com/office/drawing/2014/main" id="{1F13CEB1-A855-4B25-B274-4F8F9260B8D5}"/>
              </a:ext>
            </a:extLst>
          </p:cNvPr>
          <p:cNvSpPr>
            <a:spLocks xmlns:a="http://schemas.openxmlformats.org/drawingml/2006/main" noGrp="1"/>
          </p:cNvSpPr>
          <p:nvPr/>
        </p:nvSpPr>
        <p:spPr>
          <a:xfrm xmlns:a="http://schemas.openxmlformats.org/drawingml/2006/main">
            <a:off x="666750" y="4238625"/>
            <a:ext cx="3314700"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Dev</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Smoke tests</a:t>
            </a:r>
          </a:p>
        </p:txBody>
      </p:sp>
      <p:sp>
        <p:nvSpPr>
          <p:cNvPr id="12" name="">
            <a:extLst xmlns:a="http://schemas.openxmlformats.org/drawingml/2006/main">
              <a:ext uri="{FF2B5EF4-FFF2-40B4-BE49-F238E27FC236}">
                <a16:creationId xmlns:a16="http://schemas.microsoft.com/office/drawing/2014/main" id="{FE728110-6A08-43FD-B457-DEAAF8A0B1E0}"/>
              </a:ext>
            </a:extLst>
          </p:cNvPr>
          <p:cNvSpPr>
            <a:spLocks xmlns:a="http://schemas.openxmlformats.org/drawingml/2006/main" noGrp="1"/>
          </p:cNvSpPr>
          <p:nvPr/>
        </p:nvSpPr>
        <p:spPr>
          <a:xfrm xmlns:a="http://schemas.openxmlformats.org/drawingml/2006/main">
            <a:off x="4438650" y="4238625"/>
            <a:ext cx="3314700"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Staging</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Integration tests</a:t>
            </a:r>
          </a:p>
        </p:txBody>
      </p:sp>
      <p:sp>
        <p:nvSpPr>
          <p:cNvPr id="13" name="">
            <a:extLst xmlns:a="http://schemas.openxmlformats.org/drawingml/2006/main">
              <a:ext uri="{FF2B5EF4-FFF2-40B4-BE49-F238E27FC236}">
                <a16:creationId xmlns:a16="http://schemas.microsoft.com/office/drawing/2014/main" id="{CFF64C01-07ED-4EDB-8C21-6A8E49B333DB}"/>
              </a:ext>
            </a:extLst>
          </p:cNvPr>
          <p:cNvSpPr>
            <a:spLocks xmlns:a="http://schemas.openxmlformats.org/drawingml/2006/main" noGrp="1"/>
          </p:cNvSpPr>
          <p:nvPr/>
        </p:nvSpPr>
        <p:spPr>
          <a:xfrm xmlns:a="http://schemas.openxmlformats.org/drawingml/2006/main">
            <a:off x="8210550" y="4238625"/>
            <a:ext cx="3314700"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Production</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Approval + monitor</a:t>
            </a:r>
          </a:p>
        </p:txBody>
      </p:sp>
      <p:cxnSp>
        <p:nvCxnSpPr>
          <p:cNvPr id="30" name=""/>
          <p:cNvCxnSpPr>
            <a:stCxn xmlns:a="http://schemas.openxmlformats.org/drawingml/2006/main" id="11" idx="3"/>
            <a:endCxn xmlns:a="http://schemas.openxmlformats.org/drawingml/2006/main" id="12" idx="1"/>
          </p:cNvCxnSpPr>
          <p:nvPr/>
        </p:nvCxnSpPr>
        <p:spPr>
          <a:xfrm xmlns:a="http://schemas.openxmlformats.org/drawingml/2006/main">
            <a:off x="3981450" y="4772025"/>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31" name=""/>
          <p:cNvCxnSpPr>
            <a:stCxn xmlns:a="http://schemas.openxmlformats.org/drawingml/2006/main" id="12" idx="3"/>
            <a:endCxn xmlns:a="http://schemas.openxmlformats.org/drawingml/2006/main" id="13" idx="1"/>
          </p:cNvCxnSpPr>
          <p:nvPr/>
        </p:nvCxnSpPr>
        <p:spPr>
          <a:xfrm xmlns:a="http://schemas.openxmlformats.org/drawingml/2006/main">
            <a:off x="7753350" y="4772025"/>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sp>
        <p:nvSpPr>
          <p:cNvPr id="16" name="">
            <a:extLst xmlns:a="http://schemas.openxmlformats.org/drawingml/2006/main">
              <a:ext uri="{FF2B5EF4-FFF2-40B4-BE49-F238E27FC236}">
                <a16:creationId xmlns:a16="http://schemas.microsoft.com/office/drawing/2014/main" id="{C7601AA8-F1E3-4536-B5B4-D4992A247B92}"/>
              </a:ext>
            </a:extLst>
          </p:cNvPr>
          <p:cNvSpPr>
            <a:spLocks xmlns:a="http://schemas.openxmlformats.org/drawingml/2006/main" noGrp="1"/>
          </p:cNvSpPr>
          <p:nvPr/>
        </p:nvSpPr>
        <p:spPr>
          <a:xfrm xmlns:a="http://schemas.openxmlformats.org/drawingml/2006/main">
            <a:off x="666750" y="57912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64A"/>
                </a:solidFill>
                <a:latin typeface="Helvetica Neue"/>
                <a:ea typeface="Helvetica Neue"/>
                <a:cs typeface="Helvetica Neue"/>
              </a:defRPr>
            </a:pPr>
            <a:r>
              <a:rPr sz="1950" b="0">
                <a:solidFill>
                  <a:srgbClr val="18364A"/>
                </a:solidFill>
                <a:latin typeface="Helvetica Neue"/>
                <a:ea typeface="Helvetica Neue"/>
                <a:cs typeface="Helvetica Neue"/>
              </a:rPr>
              <a:t>Rollback: revert the Git version, sync, verify recovery</a:t>
            </a:r>
          </a:p>
        </p:txBody>
      </p:sp>
    </p:spTree>
    <p:extLst>
      <p:ext uri="{BB962C8B-B14F-4D97-AF65-F5344CB8AC3E}">
        <p14:creationId xmlns:p14="http://schemas.microsoft.com/office/powerpoint/2010/main" val="2124952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B9D75C7-CDA1-47CF-BE4C-E0F5235462EC}"/>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Observability and centralized evidence</a:t>
            </a:r>
          </a:p>
        </p:txBody>
      </p:sp>
      <p:sp>
        <p:nvSpPr>
          <p:cNvPr id="2" name="">
            <a:extLst xmlns:a="http://schemas.openxmlformats.org/drawingml/2006/main">
              <a:ext uri="{FF2B5EF4-FFF2-40B4-BE49-F238E27FC236}">
                <a16:creationId xmlns:a16="http://schemas.microsoft.com/office/drawing/2014/main" id="{3BA2BAAE-BCCE-4204-A1A1-4AEB5B44E84E}"/>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DA67926A-827F-4155-8F21-6BD7BC6EFDEC}"/>
              </a:ext>
            </a:extLst>
          </p:cNvPr>
          <p:cNvSpPr>
            <a:spLocks xmlns:a="http://schemas.openxmlformats.org/drawingml/2006/main" noGrp="1"/>
          </p:cNvSpPr>
          <p:nvPr/>
        </p:nvSpPr>
        <p:spPr>
          <a:xfrm xmlns:a="http://schemas.openxmlformats.org/drawingml/2006/main">
            <a:off x="666750" y="2095500"/>
            <a:ext cx="3314700"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Linux / Windows</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OS-aware logs</a:t>
            </a:r>
          </a:p>
        </p:txBody>
      </p:sp>
      <p:sp>
        <p:nvSpPr>
          <p:cNvPr id="4" name="">
            <a:extLst xmlns:a="http://schemas.openxmlformats.org/drawingml/2006/main">
              <a:ext uri="{FF2B5EF4-FFF2-40B4-BE49-F238E27FC236}">
                <a16:creationId xmlns:a16="http://schemas.microsoft.com/office/drawing/2014/main" id="{7618C61A-FE71-4A70-850E-E7BCF64A427B}"/>
              </a:ext>
            </a:extLst>
          </p:cNvPr>
          <p:cNvSpPr>
            <a:spLocks xmlns:a="http://schemas.openxmlformats.org/drawingml/2006/main" noGrp="1"/>
          </p:cNvSpPr>
          <p:nvPr/>
        </p:nvSpPr>
        <p:spPr>
          <a:xfrm xmlns:a="http://schemas.openxmlformats.org/drawingml/2006/main">
            <a:off x="4438650" y="2095500"/>
            <a:ext cx="3314700"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CloudWatch</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Logs and alarms</a:t>
            </a:r>
          </a:p>
        </p:txBody>
      </p:sp>
      <p:sp>
        <p:nvSpPr>
          <p:cNvPr id="5" name="">
            <a:extLst xmlns:a="http://schemas.openxmlformats.org/drawingml/2006/main">
              <a:ext uri="{FF2B5EF4-FFF2-40B4-BE49-F238E27FC236}">
                <a16:creationId xmlns:a16="http://schemas.microsoft.com/office/drawing/2014/main" id="{DCE8C0DE-6738-4490-8516-0C498A7348D7}"/>
              </a:ext>
            </a:extLst>
          </p:cNvPr>
          <p:cNvSpPr>
            <a:spLocks xmlns:a="http://schemas.openxmlformats.org/drawingml/2006/main" noGrp="1"/>
          </p:cNvSpPr>
          <p:nvPr/>
        </p:nvSpPr>
        <p:spPr>
          <a:xfrm xmlns:a="http://schemas.openxmlformats.org/drawingml/2006/main">
            <a:off x="8210550" y="2095500"/>
            <a:ext cx="3314700"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Central evidence</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OpenSearch</a:t>
            </a:r>
          </a:p>
        </p:txBody>
      </p:sp>
      <p:cxnSp>
        <p:nvCxnSpPr>
          <p:cNvPr id="16" name=""/>
          <p:cNvCxnSpPr>
            <a:stCxn xmlns:a="http://schemas.openxmlformats.org/drawingml/2006/main" id="3" idx="3"/>
            <a:endCxn xmlns:a="http://schemas.openxmlformats.org/drawingml/2006/main" id="4" idx="1"/>
          </p:cNvCxnSpPr>
          <p:nvPr/>
        </p:nvCxnSpPr>
        <p:spPr>
          <a:xfrm xmlns:a="http://schemas.openxmlformats.org/drawingml/2006/main">
            <a:off x="3981450" y="2628900"/>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a:off x="7753350" y="2628900"/>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sp>
        <p:nvSpPr>
          <p:cNvPr id="8" name="">
            <a:extLst xmlns:a="http://schemas.openxmlformats.org/drawingml/2006/main">
              <a:ext uri="{FF2B5EF4-FFF2-40B4-BE49-F238E27FC236}">
                <a16:creationId xmlns:a16="http://schemas.microsoft.com/office/drawing/2014/main" id="{DF718808-37FB-4665-8563-E5718C3AFFA9}"/>
              </a:ext>
            </a:extLst>
          </p:cNvPr>
          <p:cNvSpPr>
            <a:spLocks xmlns:a="http://schemas.openxmlformats.org/drawingml/2006/main" noGrp="1"/>
          </p:cNvSpPr>
          <p:nvPr/>
        </p:nvSpPr>
        <p:spPr>
          <a:xfrm xmlns:a="http://schemas.openxmlformats.org/drawingml/2006/main">
            <a:off x="619125" y="39052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A"/>
                </a:solidFill>
                <a:latin typeface="Helvetica Neue"/>
                <a:ea typeface="Helvetica Neue"/>
                <a:cs typeface="Helvetica Neue"/>
              </a:defRPr>
            </a:pPr>
            <a:r>
              <a:rPr sz="2025" b="0">
                <a:solidFill>
                  <a:srgbClr val="18364A"/>
                </a:solidFill>
                <a:latin typeface="Helvetica Neue"/>
                <a:ea typeface="Helvetica Neue"/>
                <a:cs typeface="Helvetica Neue"/>
              </a:rPr>
              <a:t>Kubernetes metrics: Prometheus and Grafana</a:t>
            </a:r>
          </a:p>
        </p:txBody>
      </p:sp>
      <p:sp>
        <p:nvSpPr>
          <p:cNvPr id="9" name="">
            <a:extLst xmlns:a="http://schemas.openxmlformats.org/drawingml/2006/main">
              <a:ext uri="{FF2B5EF4-FFF2-40B4-BE49-F238E27FC236}">
                <a16:creationId xmlns:a16="http://schemas.microsoft.com/office/drawing/2014/main" id="{EA41B901-13B5-4DA3-91E4-98AF890A6EFD}"/>
              </a:ext>
            </a:extLst>
          </p:cNvPr>
          <p:cNvSpPr>
            <a:spLocks xmlns:a="http://schemas.openxmlformats.org/drawingml/2006/main" noGrp="1"/>
          </p:cNvSpPr>
          <p:nvPr/>
        </p:nvSpPr>
        <p:spPr>
          <a:xfrm xmlns:a="http://schemas.openxmlformats.org/drawingml/2006/main">
            <a:off x="619125" y="4619625"/>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A"/>
                </a:solidFill>
                <a:latin typeface="Helvetica Neue"/>
                <a:ea typeface="Helvetica Neue"/>
                <a:cs typeface="Helvetica Neue"/>
              </a:defRPr>
            </a:pPr>
            <a:r>
              <a:rPr sz="2025" b="0">
                <a:solidFill>
                  <a:srgbClr val="18364A"/>
                </a:solidFill>
                <a:latin typeface="Helvetica Neue"/>
                <a:ea typeface="Helvetica Neue"/>
                <a:cs typeface="Helvetica Neue"/>
              </a:rPr>
              <a:t>Optional extension: application tracing after a clear need and pilot</a:t>
            </a:r>
          </a:p>
        </p:txBody>
      </p:sp>
      <p:sp>
        <p:nvSpPr>
          <p:cNvPr id="10" name="">
            <a:extLst xmlns:a="http://schemas.openxmlformats.org/drawingml/2006/main">
              <a:ext uri="{FF2B5EF4-FFF2-40B4-BE49-F238E27FC236}">
                <a16:creationId xmlns:a16="http://schemas.microsoft.com/office/drawing/2014/main" id="{A77F2035-62CC-4137-927B-501D0EB679DB}"/>
              </a:ext>
            </a:extLst>
          </p:cNvPr>
          <p:cNvSpPr>
            <a:spLocks xmlns:a="http://schemas.openxmlformats.org/drawingml/2006/main" noGrp="1"/>
          </p:cNvSpPr>
          <p:nvPr/>
        </p:nvSpPr>
        <p:spPr>
          <a:xfrm xmlns:a="http://schemas.openxmlformats.org/drawingml/2006/main">
            <a:off x="619125" y="5572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3"/>
                </a:solidFill>
                <a:latin typeface="Helvetica Neue"/>
                <a:ea typeface="Helvetica Neue"/>
                <a:cs typeface="Helvetica Neue"/>
              </a:defRPr>
            </a:pPr>
            <a:r>
              <a:rPr sz="2025" b="1">
                <a:solidFill>
                  <a:srgbClr val="087F83"/>
                </a:solidFill>
                <a:latin typeface="Helvetica Neue"/>
                <a:ea typeface="Helvetica Neue"/>
                <a:cs typeface="Helvetica Neue"/>
              </a:rPr>
              <a:t>Common incident ID links logs, metrics and diagnostic evidence</a:t>
            </a:r>
          </a:p>
        </p:txBody>
      </p:sp>
    </p:spTree>
    <p:extLst>
      <p:ext uri="{BB962C8B-B14F-4D97-AF65-F5344CB8AC3E}">
        <p14:creationId xmlns:p14="http://schemas.microsoft.com/office/powerpoint/2010/main" val="144921165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33782D7-3745-417D-870E-70420AF84373}"/>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Incident response with AWS DevOps Agent</a:t>
            </a:r>
          </a:p>
        </p:txBody>
      </p:sp>
      <p:sp>
        <p:nvSpPr>
          <p:cNvPr id="2" name="">
            <a:extLst xmlns:a="http://schemas.openxmlformats.org/drawingml/2006/main">
              <a:ext uri="{FF2B5EF4-FFF2-40B4-BE49-F238E27FC236}">
                <a16:creationId xmlns:a16="http://schemas.microsoft.com/office/drawing/2014/main" id="{7A50E71B-A543-478B-901F-3A5675C54716}"/>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82E9CAE1-7DBC-4B80-80E2-40B5ACF60D7C}"/>
              </a:ext>
            </a:extLst>
          </p:cNvPr>
          <p:cNvSpPr>
            <a:spLocks xmlns:a="http://schemas.openxmlformats.org/drawingml/2006/main" noGrp="1"/>
          </p:cNvSpPr>
          <p:nvPr/>
        </p:nvSpPr>
        <p:spPr>
          <a:xfrm xmlns:a="http://schemas.openxmlformats.org/drawingml/2006/main">
            <a:off x="666750" y="2095500"/>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Alarm / incident</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CloudWatch or Grafana</a:t>
            </a:r>
          </a:p>
        </p:txBody>
      </p:sp>
      <p:sp>
        <p:nvSpPr>
          <p:cNvPr id="4" name="">
            <a:extLst xmlns:a="http://schemas.openxmlformats.org/drawingml/2006/main">
              <a:ext uri="{FF2B5EF4-FFF2-40B4-BE49-F238E27FC236}">
                <a16:creationId xmlns:a16="http://schemas.microsoft.com/office/drawing/2014/main" id="{4620D66A-1D53-48BF-A00A-0FBAE180666E}"/>
              </a:ext>
            </a:extLst>
          </p:cNvPr>
          <p:cNvSpPr>
            <a:spLocks xmlns:a="http://schemas.openxmlformats.org/drawingml/2006/main" noGrp="1"/>
          </p:cNvSpPr>
          <p:nvPr/>
        </p:nvSpPr>
        <p:spPr>
          <a:xfrm xmlns:a="http://schemas.openxmlformats.org/drawingml/2006/main">
            <a:off x="3495675" y="2095500"/>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AWS DevOps Agent</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Investigate + correlate</a:t>
            </a:r>
          </a:p>
        </p:txBody>
      </p:sp>
      <p:sp>
        <p:nvSpPr>
          <p:cNvPr id="5" name="">
            <a:extLst xmlns:a="http://schemas.openxmlformats.org/drawingml/2006/main">
              <a:ext uri="{FF2B5EF4-FFF2-40B4-BE49-F238E27FC236}">
                <a16:creationId xmlns:a16="http://schemas.microsoft.com/office/drawing/2014/main" id="{7CCC30E2-DE8E-4D6D-B2F0-72BCE35EC79D}"/>
              </a:ext>
            </a:extLst>
          </p:cNvPr>
          <p:cNvSpPr>
            <a:spLocks xmlns:a="http://schemas.openxmlformats.org/drawingml/2006/main" noGrp="1"/>
          </p:cNvSpPr>
          <p:nvPr/>
        </p:nvSpPr>
        <p:spPr>
          <a:xfrm xmlns:a="http://schemas.openxmlformats.org/drawingml/2006/main">
            <a:off x="6324600" y="2095500"/>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Operator review</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Evidence + suggestion</a:t>
            </a:r>
          </a:p>
        </p:txBody>
      </p:sp>
      <p:sp>
        <p:nvSpPr>
          <p:cNvPr id="6" name="">
            <a:extLst xmlns:a="http://schemas.openxmlformats.org/drawingml/2006/main">
              <a:ext uri="{FF2B5EF4-FFF2-40B4-BE49-F238E27FC236}">
                <a16:creationId xmlns:a16="http://schemas.microsoft.com/office/drawing/2014/main" id="{F3DC02E6-C0AD-4194-9B5B-60CA798B3750}"/>
              </a:ext>
            </a:extLst>
          </p:cNvPr>
          <p:cNvSpPr>
            <a:spLocks xmlns:a="http://schemas.openxmlformats.org/drawingml/2006/main" noGrp="1"/>
          </p:cNvSpPr>
          <p:nvPr/>
        </p:nvSpPr>
        <p:spPr>
          <a:xfrm xmlns:a="http://schemas.openxmlformats.org/drawingml/2006/main">
            <a:off x="9153525" y="2095500"/>
            <a:ext cx="2371725"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Approved action</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SSM / GitHub change</a:t>
            </a:r>
          </a:p>
        </p:txBody>
      </p:sp>
      <p:cxnSp>
        <p:nvCxnSpPr>
          <p:cNvPr id="19" name=""/>
          <p:cNvCxnSpPr>
            <a:stCxn xmlns:a="http://schemas.openxmlformats.org/drawingml/2006/main" id="3" idx="3"/>
            <a:endCxn xmlns:a="http://schemas.openxmlformats.org/drawingml/2006/main" id="4" idx="1"/>
          </p:cNvCxnSpPr>
          <p:nvPr/>
        </p:nvCxnSpPr>
        <p:spPr>
          <a:xfrm xmlns:a="http://schemas.openxmlformats.org/drawingml/2006/main">
            <a:off x="3038475" y="2628900"/>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5867400" y="2628900"/>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8696325" y="2628900"/>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sp>
        <p:nvSpPr>
          <p:cNvPr id="10" name="">
            <a:extLst xmlns:a="http://schemas.openxmlformats.org/drawingml/2006/main">
              <a:ext uri="{FF2B5EF4-FFF2-40B4-BE49-F238E27FC236}">
                <a16:creationId xmlns:a16="http://schemas.microsoft.com/office/drawing/2014/main" id="{6CBF445F-A683-4B38-94B3-854CC8CDFF04}"/>
              </a:ext>
            </a:extLst>
          </p:cNvPr>
          <p:cNvSpPr>
            <a:spLocks xmlns:a="http://schemas.openxmlformats.org/drawingml/2006/main" noGrp="1"/>
          </p:cNvSpPr>
          <p:nvPr/>
        </p:nvSpPr>
        <p:spPr>
          <a:xfrm xmlns:a="http://schemas.openxmlformats.org/drawingml/2006/main">
            <a:off x="619125" y="3952875"/>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A"/>
                </a:solidFill>
                <a:latin typeface="Helvetica Neue"/>
                <a:ea typeface="Helvetica Neue"/>
                <a:cs typeface="Helvetica Neue"/>
              </a:defRPr>
            </a:pPr>
            <a:r>
              <a:rPr sz="2025" b="0">
                <a:solidFill>
                  <a:srgbClr val="18364A"/>
                </a:solidFill>
                <a:latin typeface="Helvetica Neue"/>
                <a:ea typeface="Helvetica Neue"/>
                <a:cs typeface="Helvetica Neue"/>
              </a:rPr>
              <a:t>Agent suggests. The on-call owner approves or rejects the change.</a:t>
            </a:r>
          </a:p>
        </p:txBody>
      </p:sp>
      <p:sp>
        <p:nvSpPr>
          <p:cNvPr id="11" name="">
            <a:extLst xmlns:a="http://schemas.openxmlformats.org/drawingml/2006/main">
              <a:ext uri="{FF2B5EF4-FFF2-40B4-BE49-F238E27FC236}">
                <a16:creationId xmlns:a16="http://schemas.microsoft.com/office/drawing/2014/main" id="{683430B7-A9AB-4A03-B29F-D39422908C29}"/>
              </a:ext>
            </a:extLst>
          </p:cNvPr>
          <p:cNvSpPr>
            <a:spLocks xmlns:a="http://schemas.openxmlformats.org/drawingml/2006/main" noGrp="1"/>
          </p:cNvSpPr>
          <p:nvPr/>
        </p:nvSpPr>
        <p:spPr>
          <a:xfrm xmlns:a="http://schemas.openxmlformats.org/drawingml/2006/main">
            <a:off x="619125" y="46672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A"/>
                </a:solidFill>
                <a:latin typeface="Helvetica Neue"/>
                <a:ea typeface="Helvetica Neue"/>
                <a:cs typeface="Helvetica Neue"/>
              </a:defRPr>
            </a:pPr>
            <a:r>
              <a:rPr sz="2025" b="0">
                <a:solidFill>
                  <a:srgbClr val="18364A"/>
                </a:solidFill>
                <a:latin typeface="Helvetica Neue"/>
                <a:ea typeface="Helvetica Neue"/>
                <a:cs typeface="Helvetica Neue"/>
              </a:rPr>
              <a:t>Keep a manual runbook path when the agent is unavailable</a:t>
            </a:r>
          </a:p>
        </p:txBody>
      </p:sp>
      <p:sp>
        <p:nvSpPr>
          <p:cNvPr id="12" name="">
            <a:extLst xmlns:a="http://schemas.openxmlformats.org/drawingml/2006/main">
              <a:ext uri="{FF2B5EF4-FFF2-40B4-BE49-F238E27FC236}">
                <a16:creationId xmlns:a16="http://schemas.microsoft.com/office/drawing/2014/main" id="{FF9CF4CD-B652-44CE-85C4-9B891397F698}"/>
              </a:ext>
            </a:extLst>
          </p:cNvPr>
          <p:cNvSpPr>
            <a:spLocks xmlns:a="http://schemas.openxmlformats.org/drawingml/2006/main" noGrp="1"/>
          </p:cNvSpPr>
          <p:nvPr/>
        </p:nvSpPr>
        <p:spPr>
          <a:xfrm xmlns:a="http://schemas.openxmlformats.org/drawingml/2006/main">
            <a:off x="619125" y="56007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Your POC is a credible optional enhancement, not a claim of full production rollout.</a:t>
            </a:r>
          </a:p>
        </p:txBody>
      </p:sp>
    </p:spTree>
    <p:extLst>
      <p:ext uri="{BB962C8B-B14F-4D97-AF65-F5344CB8AC3E}">
        <p14:creationId xmlns:p14="http://schemas.microsoft.com/office/powerpoint/2010/main" val="1440063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5F0B9C-75F4-4B3F-BFA1-D01B5B407E51}"/>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Hybrid OS operations</a:t>
            </a:r>
          </a:p>
        </p:txBody>
      </p:sp>
      <p:sp>
        <p:nvSpPr>
          <p:cNvPr id="2" name="">
            <a:extLst xmlns:a="http://schemas.openxmlformats.org/drawingml/2006/main">
              <a:ext uri="{FF2B5EF4-FFF2-40B4-BE49-F238E27FC236}">
                <a16:creationId xmlns:a16="http://schemas.microsoft.com/office/drawing/2014/main" id="{84B0204C-E795-43C1-AF77-D3B5D9A87648}"/>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14</a:t>
            </a:r>
          </a:p>
        </p:txBody>
      </p:sp>
      <p:graphicFrame>
        <p:nvGraphicFramePr>
          <p:cNvPr id="7" name=""/>
          <p:cNvGraphicFramePr/>
          <p:nvPr/>
        </p:nvGraphicFramePr>
        <p:xfrm>
          <a:off xmlns:a="http://schemas.openxmlformats.org/drawingml/2006/main" x="619125" y="1619250"/>
          <a:ext xmlns:a="http://schemas.openxmlformats.org/drawingml/2006/main" cx="10953750" cy="3333750"/>
        </p:xfrm>
        <a:graphic xmlns:a="http://schemas.openxmlformats.org/drawingml/2006/main">
          <a:graphicData uri="http://schemas.openxmlformats.org/drawingml/2006/table">
            <a:tbl>
              <a:tblPr/>
              <a:tblGrid>
                <a:gridCol w="5476875"/>
                <a:gridCol w="5476875"/>
              </a:tblGrid>
              <a:tr h="666750">
                <a:tc>
                  <a:txBody>
                    <a:bodyPr/>
                    <a:lstStyle/>
                    <a:p>
                      <a:r>
                        <a:rPr sz="1725" b="1">
                          <a:solidFill>
                            <a:srgbClr val="FFFFFF"/>
                          </a:solidFill>
                          <a:latin typeface="Helvetica Neue"/>
                          <a:ea typeface="Helvetica Neue"/>
                          <a:cs typeface="Helvetica Neue"/>
                        </a:rPr>
                        <a:t>Linux checks</a:t>
                      </a:r>
                    </a:p>
                  </a:txBody>
                  <a:tcPr marL="91440" marR="91440" marT="45720" marB="45720">
                    <a:solidFill>
                      <a:srgbClr val="18364A"/>
                    </a:solidFill>
                  </a:tcPr>
                </a:tc>
                <a:tc>
                  <a:txBody>
                    <a:bodyPr/>
                    <a:lstStyle/>
                    <a:p>
                      <a:r>
                        <a:rPr sz="1725" b="1">
                          <a:solidFill>
                            <a:srgbClr val="FFFFFF"/>
                          </a:solidFill>
                          <a:latin typeface="Helvetica Neue"/>
                          <a:ea typeface="Helvetica Neue"/>
                          <a:cs typeface="Helvetica Neue"/>
                        </a:rPr>
                        <a:t>Windows checks</a:t>
                      </a:r>
                    </a:p>
                  </a:txBody>
                  <a:tcPr marL="91440" marR="91440" marT="45720" marB="45720">
                    <a:solidFill>
                      <a:srgbClr val="18364A"/>
                    </a:solidFill>
                  </a:tcPr>
                </a:tc>
              </a:tr>
              <a:tr h="666750">
                <a:tc>
                  <a:txBody>
                    <a:bodyPr/>
                    <a:lstStyle/>
                    <a:p>
                      <a:r>
                        <a:rPr sz="1725" b="0">
                          <a:solidFill>
                            <a:srgbClr val="18364A"/>
                          </a:solidFill>
                          <a:latin typeface="Helvetica Neue"/>
                          <a:ea typeface="Helvetica Neue"/>
                          <a:cs typeface="Helvetica Neue"/>
                        </a:rPr>
                        <a:t>Service state and journal</a:t>
                      </a:r>
                    </a:p>
                  </a:txBody>
                  <a:tcPr marL="91440" marR="91440" marT="45720" marB="45720">
                    <a:solidFill>
                      <a:srgbClr val="FFFFFF"/>
                    </a:solidFill>
                  </a:tcPr>
                </a:tc>
                <a:tc>
                  <a:txBody>
                    <a:bodyPr/>
                    <a:lstStyle/>
                    <a:p>
                      <a:r>
                        <a:rPr sz="1725" b="0">
                          <a:solidFill>
                            <a:srgbClr val="18364A"/>
                          </a:solidFill>
                          <a:latin typeface="Helvetica Neue"/>
                          <a:ea typeface="Helvetica Neue"/>
                          <a:cs typeface="Helvetica Neue"/>
                        </a:rPr>
                        <a:t>Services and Event Viewer</a:t>
                      </a:r>
                    </a:p>
                  </a:txBody>
                  <a:tcPr marL="91440" marR="91440" marT="45720" marB="45720">
                    <a:solidFill>
                      <a:srgbClr val="FFFFFF"/>
                    </a:solidFill>
                  </a:tcPr>
                </a:tc>
              </a:tr>
              <a:tr h="666750">
                <a:tc>
                  <a:txBody>
                    <a:bodyPr/>
                    <a:lstStyle/>
                    <a:p>
                      <a:r>
                        <a:rPr sz="1725" b="0">
                          <a:solidFill>
                            <a:srgbClr val="18364A"/>
                          </a:solidFill>
                          <a:latin typeface="Helvetica Neue"/>
                          <a:ea typeface="Helvetica Neue"/>
                          <a:cs typeface="Helvetica Neue"/>
                        </a:rPr>
                        <a:t>Memory, disk and inodes</a:t>
                      </a:r>
                    </a:p>
                  </a:txBody>
                  <a:tcPr marL="91440" marR="91440" marT="45720" marB="45720">
                    <a:solidFill>
                      <a:srgbClr val="F1F6F8"/>
                    </a:solidFill>
                  </a:tcPr>
                </a:tc>
                <a:tc>
                  <a:txBody>
                    <a:bodyPr/>
                    <a:lstStyle/>
                    <a:p>
                      <a:r>
                        <a:rPr sz="1725" b="0">
                          <a:solidFill>
                            <a:srgbClr val="18364A"/>
                          </a:solidFill>
                          <a:latin typeface="Helvetica Neue"/>
                          <a:ea typeface="Helvetica Neue"/>
                          <a:cs typeface="Helvetica Neue"/>
                        </a:rPr>
                        <a:t>Memory, disk and IIS app pools</a:t>
                      </a:r>
                    </a:p>
                  </a:txBody>
                  <a:tcPr marL="91440" marR="91440" marT="45720" marB="45720">
                    <a:solidFill>
                      <a:srgbClr val="F1F6F8"/>
                    </a:solidFill>
                  </a:tcPr>
                </a:tc>
              </a:tr>
              <a:tr h="666750">
                <a:tc>
                  <a:txBody>
                    <a:bodyPr/>
                    <a:lstStyle/>
                    <a:p>
                      <a:r>
                        <a:rPr sz="1725" b="0">
                          <a:solidFill>
                            <a:srgbClr val="18364A"/>
                          </a:solidFill>
                          <a:latin typeface="Helvetica Neue"/>
                          <a:ea typeface="Helvetica Neue"/>
                          <a:cs typeface="Helvetica Neue"/>
                        </a:rPr>
                        <a:t>Nginx / Apache / container logs</a:t>
                      </a:r>
                    </a:p>
                  </a:txBody>
                  <a:tcPr marL="91440" marR="91440" marT="45720" marB="45720">
                    <a:solidFill>
                      <a:srgbClr val="FFFFFF"/>
                    </a:solidFill>
                  </a:tcPr>
                </a:tc>
                <a:tc>
                  <a:txBody>
                    <a:bodyPr/>
                    <a:lstStyle/>
                    <a:p>
                      <a:r>
                        <a:rPr sz="1725" b="0">
                          <a:solidFill>
                            <a:srgbClr val="18364A"/>
                          </a:solidFill>
                          <a:latin typeface="Helvetica Neue"/>
                          <a:ea typeface="Helvetica Neue"/>
                          <a:cs typeface="Helvetica Neue"/>
                        </a:rPr>
                        <a:t>IIS / application / container logs</a:t>
                      </a:r>
                    </a:p>
                  </a:txBody>
                  <a:tcPr marL="91440" marR="91440" marT="45720" marB="45720">
                    <a:solidFill>
                      <a:srgbClr val="FFFFFF"/>
                    </a:solidFill>
                  </a:tcPr>
                </a:tc>
              </a:tr>
              <a:tr h="666750">
                <a:tc>
                  <a:txBody>
                    <a:bodyPr/>
                    <a:lstStyle/>
                    <a:p>
                      <a:r>
                        <a:rPr sz="1725" b="0">
                          <a:solidFill>
                            <a:srgbClr val="18364A"/>
                          </a:solidFill>
                          <a:latin typeface="Helvetica Neue"/>
                          <a:ea typeface="Helvetica Neue"/>
                          <a:cs typeface="Helvetica Neue"/>
                        </a:rPr>
                        <a:t>Bash via approved SSM document</a:t>
                      </a:r>
                    </a:p>
                  </a:txBody>
                  <a:tcPr marL="91440" marR="91440" marT="45720" marB="45720">
                    <a:solidFill>
                      <a:srgbClr val="F1F6F8"/>
                    </a:solidFill>
                  </a:tcPr>
                </a:tc>
                <a:tc>
                  <a:txBody>
                    <a:bodyPr/>
                    <a:lstStyle/>
                    <a:p>
                      <a:r>
                        <a:rPr sz="1725" b="0">
                          <a:solidFill>
                            <a:srgbClr val="18364A"/>
                          </a:solidFill>
                          <a:latin typeface="Helvetica Neue"/>
                          <a:ea typeface="Helvetica Neue"/>
                          <a:cs typeface="Helvetica Neue"/>
                        </a:rPr>
                        <a:t>PowerShell via approved SSM document</a:t>
                      </a:r>
                    </a:p>
                  </a:txBody>
                  <a:tcPr marL="91440" marR="91440" marT="45720" marB="45720">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DCA64A26-CAEC-41B6-829F-DBE358BDCE87}"/>
              </a:ext>
            </a:extLst>
          </p:cNvPr>
          <p:cNvSpPr>
            <a:spLocks xmlns:a="http://schemas.openxmlformats.org/drawingml/2006/main" noGrp="1"/>
          </p:cNvSpPr>
          <p:nvPr/>
        </p:nvSpPr>
        <p:spPr>
          <a:xfrm xmlns:a="http://schemas.openxmlformats.org/drawingml/2006/main">
            <a:off x="619125" y="53530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F83"/>
                </a:solidFill>
                <a:latin typeface="Helvetica Neue"/>
                <a:ea typeface="Helvetica Neue"/>
                <a:cs typeface="Helvetica Neue"/>
              </a:defRPr>
            </a:pPr>
            <a:r>
              <a:rPr sz="2100" b="1">
                <a:solidFill>
                  <a:srgbClr val="087F83"/>
                </a:solidFill>
                <a:latin typeface="Helvetica Neue"/>
                <a:ea typeface="Helvetica Neue"/>
                <a:cs typeface="Helvetica Neue"/>
              </a:rPr>
              <a:t>Patch EC2 in maintenance windows. Replace EKS nodes in safe batches.</a:t>
            </a:r>
          </a:p>
        </p:txBody>
      </p:sp>
    </p:spTree>
    <p:extLst>
      <p:ext uri="{BB962C8B-B14F-4D97-AF65-F5344CB8AC3E}">
        <p14:creationId xmlns:p14="http://schemas.microsoft.com/office/powerpoint/2010/main" val="25016976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BB404ED-E447-4309-B578-327A2CE2CD6C}"/>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Well-Architected controls</a:t>
            </a:r>
          </a:p>
        </p:txBody>
      </p:sp>
      <p:sp>
        <p:nvSpPr>
          <p:cNvPr id="2" name="">
            <a:extLst xmlns:a="http://schemas.openxmlformats.org/drawingml/2006/main">
              <a:ext uri="{FF2B5EF4-FFF2-40B4-BE49-F238E27FC236}">
                <a16:creationId xmlns:a16="http://schemas.microsoft.com/office/drawing/2014/main" id="{39AA644A-74C2-4356-A051-043F746BC9DD}"/>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15</a:t>
            </a:r>
          </a:p>
        </p:txBody>
      </p:sp>
      <p:graphicFrame>
        <p:nvGraphicFramePr>
          <p:cNvPr id="6" name=""/>
          <p:cNvGraphicFramePr/>
          <p:nvPr/>
        </p:nvGraphicFramePr>
        <p:xfrm>
          <a:off xmlns:a="http://schemas.openxmlformats.org/drawingml/2006/main" x="619125" y="1476375"/>
          <a:ext xmlns:a="http://schemas.openxmlformats.org/drawingml/2006/main" cx="10953750" cy="4381500"/>
        </p:xfrm>
        <a:graphic xmlns:a="http://schemas.openxmlformats.org/drawingml/2006/main">
          <a:graphicData uri="http://schemas.openxmlformats.org/drawingml/2006/table">
            <a:tbl>
              <a:tblPr/>
              <a:tblGrid>
                <a:gridCol w="3571875"/>
                <a:gridCol w="7381875"/>
              </a:tblGrid>
              <a:tr h="625929">
                <a:tc>
                  <a:txBody>
                    <a:bodyPr/>
                    <a:lstStyle/>
                    <a:p>
                      <a:r>
                        <a:rPr sz="1725" b="1">
                          <a:solidFill>
                            <a:srgbClr val="FFFFFF"/>
                          </a:solidFill>
                          <a:latin typeface="Helvetica Neue"/>
                          <a:ea typeface="Helvetica Neue"/>
                          <a:cs typeface="Helvetica Neue"/>
                        </a:rPr>
                        <a:t>Pillar</a:t>
                      </a:r>
                    </a:p>
                  </a:txBody>
                  <a:tcPr marL="91440" marR="91440" marT="45720" marB="45720">
                    <a:solidFill>
                      <a:srgbClr val="18364A"/>
                    </a:solidFill>
                  </a:tcPr>
                </a:tc>
                <a:tc>
                  <a:txBody>
                    <a:bodyPr/>
                    <a:lstStyle/>
                    <a:p>
                      <a:r>
                        <a:rPr sz="1725" b="1">
                          <a:solidFill>
                            <a:srgbClr val="FFFFFF"/>
                          </a:solidFill>
                          <a:latin typeface="Helvetica Neue"/>
                          <a:ea typeface="Helvetica Neue"/>
                          <a:cs typeface="Helvetica Neue"/>
                        </a:rPr>
                        <a:t>Concrete control</a:t>
                      </a:r>
                    </a:p>
                  </a:txBody>
                  <a:tcPr marL="91440" marR="91440" marT="45720" marB="45720">
                    <a:solidFill>
                      <a:srgbClr val="18364A"/>
                    </a:solidFill>
                  </a:tcPr>
                </a:tc>
              </a:tr>
              <a:tr h="625929">
                <a:tc>
                  <a:txBody>
                    <a:bodyPr/>
                    <a:lstStyle/>
                    <a:p>
                      <a:r>
                        <a:rPr sz="1725" b="0">
                          <a:solidFill>
                            <a:srgbClr val="18364A"/>
                          </a:solidFill>
                          <a:latin typeface="Helvetica Neue"/>
                          <a:ea typeface="Helvetica Neue"/>
                          <a:cs typeface="Helvetica Neue"/>
                        </a:rPr>
                        <a:t>Operational Excellence</a:t>
                      </a:r>
                    </a:p>
                  </a:txBody>
                  <a:tcPr marL="91440" marR="91440" marT="45720" marB="45720">
                    <a:solidFill>
                      <a:srgbClr val="FFFFFF"/>
                    </a:solidFill>
                  </a:tcPr>
                </a:tc>
                <a:tc>
                  <a:txBody>
                    <a:bodyPr/>
                    <a:lstStyle/>
                    <a:p>
                      <a:r>
                        <a:rPr sz="1725" b="0">
                          <a:solidFill>
                            <a:srgbClr val="18364A"/>
                          </a:solidFill>
                          <a:latin typeface="Helvetica Neue"/>
                          <a:ea typeface="Helvetica Neue"/>
                          <a:cs typeface="Helvetica Neue"/>
                        </a:rPr>
                        <a:t>GitOps releases and tested incident runbooks</a:t>
                      </a:r>
                    </a:p>
                  </a:txBody>
                  <a:tcPr marL="91440" marR="91440" marT="45720" marB="45720">
                    <a:solidFill>
                      <a:srgbClr val="FFFFFF"/>
                    </a:solidFill>
                  </a:tcPr>
                </a:tc>
              </a:tr>
              <a:tr h="625929">
                <a:tc>
                  <a:txBody>
                    <a:bodyPr/>
                    <a:lstStyle/>
                    <a:p>
                      <a:r>
                        <a:rPr sz="1725" b="0">
                          <a:solidFill>
                            <a:srgbClr val="18364A"/>
                          </a:solidFill>
                          <a:latin typeface="Helvetica Neue"/>
                          <a:ea typeface="Helvetica Neue"/>
                          <a:cs typeface="Helvetica Neue"/>
                        </a:rPr>
                        <a:t>Security</a:t>
                      </a:r>
                    </a:p>
                  </a:txBody>
                  <a:tcPr marL="91440" marR="91440" marT="45720" marB="45720">
                    <a:solidFill>
                      <a:srgbClr val="F1F6F8"/>
                    </a:solidFill>
                  </a:tcPr>
                </a:tc>
                <a:tc>
                  <a:txBody>
                    <a:bodyPr/>
                    <a:lstStyle/>
                    <a:p>
                      <a:r>
                        <a:rPr sz="1725" b="0">
                          <a:solidFill>
                            <a:srgbClr val="18364A"/>
                          </a:solidFill>
                          <a:latin typeface="Helvetica Neue"/>
                          <a:ea typeface="Helvetica Neue"/>
                          <a:cs typeface="Helvetica Neue"/>
                        </a:rPr>
                        <a:t>Account isolation, scoped IAM and inspected egress</a:t>
                      </a:r>
                    </a:p>
                  </a:txBody>
                  <a:tcPr marL="91440" marR="91440" marT="45720" marB="45720">
                    <a:solidFill>
                      <a:srgbClr val="F1F6F8"/>
                    </a:solidFill>
                  </a:tcPr>
                </a:tc>
              </a:tr>
              <a:tr h="625929">
                <a:tc>
                  <a:txBody>
                    <a:bodyPr/>
                    <a:lstStyle/>
                    <a:p>
                      <a:r>
                        <a:rPr sz="1725" b="0">
                          <a:solidFill>
                            <a:srgbClr val="18364A"/>
                          </a:solidFill>
                          <a:latin typeface="Helvetica Neue"/>
                          <a:ea typeface="Helvetica Neue"/>
                          <a:cs typeface="Helvetica Neue"/>
                        </a:rPr>
                        <a:t>Reliability</a:t>
                      </a:r>
                    </a:p>
                  </a:txBody>
                  <a:tcPr marL="91440" marR="91440" marT="45720" marB="45720">
                    <a:solidFill>
                      <a:srgbClr val="FFFFFF"/>
                    </a:solidFill>
                  </a:tcPr>
                </a:tc>
                <a:tc>
                  <a:txBody>
                    <a:bodyPr/>
                    <a:lstStyle/>
                    <a:p>
                      <a:r>
                        <a:rPr sz="1725" b="0">
                          <a:solidFill>
                            <a:srgbClr val="18364A"/>
                          </a:solidFill>
                          <a:latin typeface="Helvetica Neue"/>
                          <a:ea typeface="Helvetica Neue"/>
                          <a:cs typeface="Helvetica Neue"/>
                        </a:rPr>
                        <a:t>Multi-AZ capacity and tested recovery</a:t>
                      </a:r>
                    </a:p>
                  </a:txBody>
                  <a:tcPr marL="91440" marR="91440" marT="45720" marB="45720">
                    <a:solidFill>
                      <a:srgbClr val="FFFFFF"/>
                    </a:solidFill>
                  </a:tcPr>
                </a:tc>
              </a:tr>
              <a:tr h="625929">
                <a:tc>
                  <a:txBody>
                    <a:bodyPr/>
                    <a:lstStyle/>
                    <a:p>
                      <a:r>
                        <a:rPr sz="1725" b="0">
                          <a:solidFill>
                            <a:srgbClr val="18364A"/>
                          </a:solidFill>
                          <a:latin typeface="Helvetica Neue"/>
                          <a:ea typeface="Helvetica Neue"/>
                          <a:cs typeface="Helvetica Neue"/>
                        </a:rPr>
                        <a:t>Performance Efficiency</a:t>
                      </a:r>
                    </a:p>
                  </a:txBody>
                  <a:tcPr marL="91440" marR="91440" marT="45720" marB="45720">
                    <a:solidFill>
                      <a:srgbClr val="F1F6F8"/>
                    </a:solidFill>
                  </a:tcPr>
                </a:tc>
                <a:tc>
                  <a:txBody>
                    <a:bodyPr/>
                    <a:lstStyle/>
                    <a:p>
                      <a:r>
                        <a:rPr sz="1725" b="0">
                          <a:solidFill>
                            <a:srgbClr val="18364A"/>
                          </a:solidFill>
                          <a:latin typeface="Helvetica Neue"/>
                          <a:ea typeface="Helvetica Neue"/>
                          <a:cs typeface="Helvetica Neue"/>
                        </a:rPr>
                        <a:t>Resource requests, load tests and autoscaling</a:t>
                      </a:r>
                    </a:p>
                  </a:txBody>
                  <a:tcPr marL="91440" marR="91440" marT="45720" marB="45720">
                    <a:solidFill>
                      <a:srgbClr val="F1F6F8"/>
                    </a:solidFill>
                  </a:tcPr>
                </a:tc>
              </a:tr>
              <a:tr h="625929">
                <a:tc>
                  <a:txBody>
                    <a:bodyPr/>
                    <a:lstStyle/>
                    <a:p>
                      <a:r>
                        <a:rPr sz="1725" b="0">
                          <a:solidFill>
                            <a:srgbClr val="18364A"/>
                          </a:solidFill>
                          <a:latin typeface="Helvetica Neue"/>
                          <a:ea typeface="Helvetica Neue"/>
                          <a:cs typeface="Helvetica Neue"/>
                        </a:rPr>
                        <a:t>Cost Optimization</a:t>
                      </a:r>
                    </a:p>
                  </a:txBody>
                  <a:tcPr marL="91440" marR="91440" marT="45720" marB="45720">
                    <a:solidFill>
                      <a:srgbClr val="FFFFFF"/>
                    </a:solidFill>
                  </a:tcPr>
                </a:tc>
                <a:tc>
                  <a:txBody>
                    <a:bodyPr/>
                    <a:lstStyle/>
                    <a:p>
                      <a:r>
                        <a:rPr sz="1725" b="0">
                          <a:solidFill>
                            <a:srgbClr val="18364A"/>
                          </a:solidFill>
                          <a:latin typeface="Helvetica Neue"/>
                          <a:ea typeface="Helvetica Neue"/>
                          <a:cs typeface="Helvetica Neue"/>
                        </a:rPr>
                        <a:t>Right-sizing, ownership tags and log retention</a:t>
                      </a:r>
                    </a:p>
                  </a:txBody>
                  <a:tcPr marL="91440" marR="91440" marT="45720" marB="45720">
                    <a:solidFill>
                      <a:srgbClr val="FFFFFF"/>
                    </a:solidFill>
                  </a:tcPr>
                </a:tc>
              </a:tr>
              <a:tr h="625929">
                <a:tc>
                  <a:txBody>
                    <a:bodyPr/>
                    <a:lstStyle/>
                    <a:p>
                      <a:r>
                        <a:rPr sz="1725" b="0">
                          <a:solidFill>
                            <a:srgbClr val="18364A"/>
                          </a:solidFill>
                          <a:latin typeface="Helvetica Neue"/>
                          <a:ea typeface="Helvetica Neue"/>
                          <a:cs typeface="Helvetica Neue"/>
                        </a:rPr>
                        <a:t>Sustainability</a:t>
                      </a:r>
                    </a:p>
                  </a:txBody>
                  <a:tcPr marL="91440" marR="91440" marT="45720" marB="45720">
                    <a:solidFill>
                      <a:srgbClr val="F1F6F8"/>
                    </a:solidFill>
                  </a:tcPr>
                </a:tc>
                <a:tc>
                  <a:txBody>
                    <a:bodyPr/>
                    <a:lstStyle/>
                    <a:p>
                      <a:r>
                        <a:rPr sz="1725" b="0">
                          <a:solidFill>
                            <a:srgbClr val="18364A"/>
                          </a:solidFill>
                          <a:latin typeface="Helvetica Neue"/>
                          <a:ea typeface="Helvetica Neue"/>
                          <a:cs typeface="Helvetica Neue"/>
                        </a:rPr>
                        <a:t>Remove idle capacity and expire unneeded data</a:t>
                      </a:r>
                    </a:p>
                  </a:txBody>
                  <a:tcPr marL="91440" marR="91440" marT="45720" marB="45720">
                    <a:solidFill>
                      <a:srgbClr val="F1F6F8"/>
                    </a:solidFill>
                  </a:tcPr>
                </a:tc>
              </a:tr>
            </a:tbl>
          </a:graphicData>
        </a:graphic>
      </p:graphicFrame>
    </p:spTree>
    <p:extLst>
      <p:ext uri="{BB962C8B-B14F-4D97-AF65-F5344CB8AC3E}">
        <p14:creationId xmlns:p14="http://schemas.microsoft.com/office/powerpoint/2010/main" val="130064834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5AC4CAB-6538-467A-A4C7-D99A75F1F2B0}"/>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Key decisions and trade-offs</a:t>
            </a:r>
          </a:p>
        </p:txBody>
      </p:sp>
      <p:sp>
        <p:nvSpPr>
          <p:cNvPr id="2" name="">
            <a:extLst xmlns:a="http://schemas.openxmlformats.org/drawingml/2006/main">
              <a:ext uri="{FF2B5EF4-FFF2-40B4-BE49-F238E27FC236}">
                <a16:creationId xmlns:a16="http://schemas.microsoft.com/office/drawing/2014/main" id="{7BA0AECF-996E-4099-B79D-0939123CED31}"/>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16</a:t>
            </a:r>
          </a:p>
        </p:txBody>
      </p:sp>
      <p:graphicFrame>
        <p:nvGraphicFramePr>
          <p:cNvPr id="6" name=""/>
          <p:cNvGraphicFramePr/>
          <p:nvPr/>
        </p:nvGraphicFramePr>
        <p:xfrm>
          <a:off xmlns:a="http://schemas.openxmlformats.org/drawingml/2006/main" x="619125" y="1619250"/>
          <a:ext xmlns:a="http://schemas.openxmlformats.org/drawingml/2006/main" cx="10953750" cy="3810000"/>
        </p:xfrm>
        <a:graphic xmlns:a="http://schemas.openxmlformats.org/drawingml/2006/main">
          <a:graphicData uri="http://schemas.openxmlformats.org/drawingml/2006/table">
            <a:tbl>
              <a:tblPr/>
              <a:tblGrid>
                <a:gridCol w="3286125"/>
                <a:gridCol w="3762375"/>
                <a:gridCol w="3905250"/>
              </a:tblGrid>
              <a:tr h="762000">
                <a:tc>
                  <a:txBody>
                    <a:bodyPr/>
                    <a:lstStyle/>
                    <a:p>
                      <a:r>
                        <a:rPr sz="1725" b="1">
                          <a:solidFill>
                            <a:srgbClr val="FFFFFF"/>
                          </a:solidFill>
                          <a:latin typeface="Helvetica Neue"/>
                          <a:ea typeface="Helvetica Neue"/>
                          <a:cs typeface="Helvetica Neue"/>
                        </a:rPr>
                        <a:t>Decision</a:t>
                      </a:r>
                    </a:p>
                  </a:txBody>
                  <a:tcPr marL="91440" marR="91440" marT="45720" marB="45720">
                    <a:solidFill>
                      <a:srgbClr val="18364A"/>
                    </a:solidFill>
                  </a:tcPr>
                </a:tc>
                <a:tc>
                  <a:txBody>
                    <a:bodyPr/>
                    <a:lstStyle/>
                    <a:p>
                      <a:r>
                        <a:rPr sz="1725" b="1">
                          <a:solidFill>
                            <a:srgbClr val="FFFFFF"/>
                          </a:solidFill>
                          <a:latin typeface="Helvetica Neue"/>
                          <a:ea typeface="Helvetica Neue"/>
                          <a:cs typeface="Helvetica Neue"/>
                        </a:rPr>
                        <a:t>Benefit</a:t>
                      </a:r>
                    </a:p>
                  </a:txBody>
                  <a:tcPr marL="91440" marR="91440" marT="45720" marB="45720">
                    <a:solidFill>
                      <a:srgbClr val="18364A"/>
                    </a:solidFill>
                  </a:tcPr>
                </a:tc>
                <a:tc>
                  <a:txBody>
                    <a:bodyPr/>
                    <a:lstStyle/>
                    <a:p>
                      <a:r>
                        <a:rPr sz="1725" b="1">
                          <a:solidFill>
                            <a:srgbClr val="FFFFFF"/>
                          </a:solidFill>
                          <a:latin typeface="Helvetica Neue"/>
                          <a:ea typeface="Helvetica Neue"/>
                          <a:cs typeface="Helvetica Neue"/>
                        </a:rPr>
                        <a:t>Trade-off</a:t>
                      </a:r>
                    </a:p>
                  </a:txBody>
                  <a:tcPr marL="91440" marR="91440" marT="45720" marB="45720">
                    <a:solidFill>
                      <a:srgbClr val="18364A"/>
                    </a:solidFill>
                  </a:tcPr>
                </a:tc>
              </a:tr>
              <a:tr h="762000">
                <a:tc>
                  <a:txBody>
                    <a:bodyPr/>
                    <a:lstStyle/>
                    <a:p>
                      <a:r>
                        <a:rPr sz="1725" b="0">
                          <a:solidFill>
                            <a:srgbClr val="18364A"/>
                          </a:solidFill>
                          <a:latin typeface="Helvetica Neue"/>
                          <a:ea typeface="Helvetica Neue"/>
                          <a:cs typeface="Helvetica Neue"/>
                        </a:rPr>
                        <a:t>Cluster per environment</a:t>
                      </a:r>
                    </a:p>
                  </a:txBody>
                  <a:tcPr marL="91440" marR="91440" marT="45720" marB="45720">
                    <a:solidFill>
                      <a:srgbClr val="FFFFFF"/>
                    </a:solidFill>
                  </a:tcPr>
                </a:tc>
                <a:tc>
                  <a:txBody>
                    <a:bodyPr/>
                    <a:lstStyle/>
                    <a:p>
                      <a:r>
                        <a:rPr sz="1725" b="0">
                          <a:solidFill>
                            <a:srgbClr val="18364A"/>
                          </a:solidFill>
                          <a:latin typeface="Helvetica Neue"/>
                          <a:ea typeface="Helvetica Neue"/>
                          <a:cs typeface="Helvetica Neue"/>
                        </a:rPr>
                        <a:t>Stronger isolation</a:t>
                      </a:r>
                    </a:p>
                  </a:txBody>
                  <a:tcPr marL="91440" marR="91440" marT="45720" marB="45720">
                    <a:solidFill>
                      <a:srgbClr val="FFFFFF"/>
                    </a:solidFill>
                  </a:tcPr>
                </a:tc>
                <a:tc>
                  <a:txBody>
                    <a:bodyPr/>
                    <a:lstStyle/>
                    <a:p>
                      <a:r>
                        <a:rPr sz="1725" b="0">
                          <a:solidFill>
                            <a:srgbClr val="18364A"/>
                          </a:solidFill>
                          <a:latin typeface="Helvetica Neue"/>
                          <a:ea typeface="Helvetica Neue"/>
                          <a:cs typeface="Helvetica Neue"/>
                        </a:rPr>
                        <a:t>More platform cost</a:t>
                      </a:r>
                    </a:p>
                  </a:txBody>
                  <a:tcPr marL="91440" marR="91440" marT="45720" marB="45720">
                    <a:solidFill>
                      <a:srgbClr val="FFFFFF"/>
                    </a:solidFill>
                  </a:tcPr>
                </a:tc>
              </a:tr>
              <a:tr h="762000">
                <a:tc>
                  <a:txBody>
                    <a:bodyPr/>
                    <a:lstStyle/>
                    <a:p>
                      <a:r>
                        <a:rPr sz="1725" b="0">
                          <a:solidFill>
                            <a:srgbClr val="18364A"/>
                          </a:solidFill>
                          <a:latin typeface="Helvetica Neue"/>
                          <a:ea typeface="Helvetica Neue"/>
                          <a:cs typeface="Helvetica Neue"/>
                        </a:rPr>
                        <a:t>Central egress inspection</a:t>
                      </a:r>
                    </a:p>
                  </a:txBody>
                  <a:tcPr marL="91440" marR="91440" marT="45720" marB="45720">
                    <a:solidFill>
                      <a:srgbClr val="F1F6F8"/>
                    </a:solidFill>
                  </a:tcPr>
                </a:tc>
                <a:tc>
                  <a:txBody>
                    <a:bodyPr/>
                    <a:lstStyle/>
                    <a:p>
                      <a:r>
                        <a:rPr sz="1725" b="0">
                          <a:solidFill>
                            <a:srgbClr val="18364A"/>
                          </a:solidFill>
                          <a:latin typeface="Helvetica Neue"/>
                          <a:ea typeface="Helvetica Neue"/>
                          <a:cs typeface="Helvetica Neue"/>
                        </a:rPr>
                        <a:t>Consistent network policy</a:t>
                      </a:r>
                    </a:p>
                  </a:txBody>
                  <a:tcPr marL="91440" marR="91440" marT="45720" marB="45720">
                    <a:solidFill>
                      <a:srgbClr val="F1F6F8"/>
                    </a:solidFill>
                  </a:tcPr>
                </a:tc>
                <a:tc>
                  <a:txBody>
                    <a:bodyPr/>
                    <a:lstStyle/>
                    <a:p>
                      <a:r>
                        <a:rPr sz="1725" b="0">
                          <a:solidFill>
                            <a:srgbClr val="18364A"/>
                          </a:solidFill>
                          <a:latin typeface="Helvetica Neue"/>
                          <a:ea typeface="Helvetica Neue"/>
                          <a:cs typeface="Helvetica Neue"/>
                        </a:rPr>
                        <a:t>Shared dependency and routing</a:t>
                      </a:r>
                    </a:p>
                  </a:txBody>
                  <a:tcPr marL="91440" marR="91440" marT="45720" marB="45720">
                    <a:solidFill>
                      <a:srgbClr val="F1F6F8"/>
                    </a:solidFill>
                  </a:tcPr>
                </a:tc>
              </a:tr>
              <a:tr h="762000">
                <a:tc>
                  <a:txBody>
                    <a:bodyPr/>
                    <a:lstStyle/>
                    <a:p>
                      <a:r>
                        <a:rPr sz="1725" b="0">
                          <a:solidFill>
                            <a:srgbClr val="18364A"/>
                          </a:solidFill>
                          <a:latin typeface="Helvetica Neue"/>
                          <a:ea typeface="Helvetica Neue"/>
                          <a:cs typeface="Helvetica Neue"/>
                        </a:rPr>
                        <a:t>Managed Linux/Windows groups</a:t>
                      </a:r>
                    </a:p>
                  </a:txBody>
                  <a:tcPr marL="91440" marR="91440" marT="45720" marB="45720">
                    <a:solidFill>
                      <a:srgbClr val="FFFFFF"/>
                    </a:solidFill>
                  </a:tcPr>
                </a:tc>
                <a:tc>
                  <a:txBody>
                    <a:bodyPr/>
                    <a:lstStyle/>
                    <a:p>
                      <a:r>
                        <a:rPr sz="1725" b="0">
                          <a:solidFill>
                            <a:srgbClr val="18364A"/>
                          </a:solidFill>
                          <a:latin typeface="Helvetica Neue"/>
                          <a:ea typeface="Helvetica Neue"/>
                          <a:cs typeface="Helvetica Neue"/>
                        </a:rPr>
                        <a:t>Common deployment platform</a:t>
                      </a:r>
                    </a:p>
                  </a:txBody>
                  <a:tcPr marL="91440" marR="91440" marT="45720" marB="45720">
                    <a:solidFill>
                      <a:srgbClr val="FFFFFF"/>
                    </a:solidFill>
                  </a:tcPr>
                </a:tc>
                <a:tc>
                  <a:txBody>
                    <a:bodyPr/>
                    <a:lstStyle/>
                    <a:p>
                      <a:r>
                        <a:rPr sz="1725" b="0">
                          <a:solidFill>
                            <a:srgbClr val="18364A"/>
                          </a:solidFill>
                          <a:latin typeface="Helvetica Neue"/>
                          <a:ea typeface="Helvetica Neue"/>
                          <a:cs typeface="Helvetica Neue"/>
                        </a:rPr>
                        <a:t>Windows compatibility limits</a:t>
                      </a:r>
                    </a:p>
                  </a:txBody>
                  <a:tcPr marL="91440" marR="91440" marT="45720" marB="45720">
                    <a:solidFill>
                      <a:srgbClr val="FFFFFF"/>
                    </a:solidFill>
                  </a:tcPr>
                </a:tc>
              </a:tr>
              <a:tr h="762000">
                <a:tc>
                  <a:txBody>
                    <a:bodyPr/>
                    <a:lstStyle/>
                    <a:p>
                      <a:r>
                        <a:rPr sz="1725" b="0">
                          <a:solidFill>
                            <a:srgbClr val="18364A"/>
                          </a:solidFill>
                          <a:latin typeface="Helvetica Neue"/>
                          <a:ea typeface="Helvetica Neue"/>
                          <a:cs typeface="Helvetica Neue"/>
                        </a:rPr>
                        <a:t>Helm + Argo CD</a:t>
                      </a:r>
                    </a:p>
                  </a:txBody>
                  <a:tcPr marL="91440" marR="91440" marT="45720" marB="45720">
                    <a:solidFill>
                      <a:srgbClr val="F1F6F8"/>
                    </a:solidFill>
                  </a:tcPr>
                </a:tc>
                <a:tc>
                  <a:txBody>
                    <a:bodyPr/>
                    <a:lstStyle/>
                    <a:p>
                      <a:r>
                        <a:rPr sz="1725" b="0">
                          <a:solidFill>
                            <a:srgbClr val="18364A"/>
                          </a:solidFill>
                          <a:latin typeface="Helvetica Neue"/>
                          <a:ea typeface="Helvetica Neue"/>
                          <a:cs typeface="Helvetica Neue"/>
                        </a:rPr>
                        <a:t>Reviewable desired state</a:t>
                      </a:r>
                    </a:p>
                  </a:txBody>
                  <a:tcPr marL="91440" marR="91440" marT="45720" marB="45720">
                    <a:solidFill>
                      <a:srgbClr val="F1F6F8"/>
                    </a:solidFill>
                  </a:tcPr>
                </a:tc>
                <a:tc>
                  <a:txBody>
                    <a:bodyPr/>
                    <a:lstStyle/>
                    <a:p>
                      <a:r>
                        <a:rPr sz="1725" b="0">
                          <a:solidFill>
                            <a:srgbClr val="18364A"/>
                          </a:solidFill>
                          <a:latin typeface="Helvetica Neue"/>
                          <a:ea typeface="Helvetica Neue"/>
                          <a:cs typeface="Helvetica Neue"/>
                        </a:rPr>
                        <a:t>Team onboarding and rollback rules</a:t>
                      </a:r>
                    </a:p>
                  </a:txBody>
                  <a:tcPr marL="91440" marR="91440" marT="45720" marB="45720">
                    <a:solidFill>
                      <a:srgbClr val="F1F6F8"/>
                    </a:solidFill>
                  </a:tcPr>
                </a:tc>
              </a:tr>
            </a:tbl>
          </a:graphicData>
        </a:graphic>
      </p:graphicFrame>
    </p:spTree>
    <p:extLst>
      <p:ext uri="{BB962C8B-B14F-4D97-AF65-F5344CB8AC3E}">
        <p14:creationId xmlns:p14="http://schemas.microsoft.com/office/powerpoint/2010/main" val="136219435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2B9147F-5D32-49DA-9FDE-7798DBC71175}"/>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Delivery plan and acceptance</a:t>
            </a:r>
          </a:p>
        </p:txBody>
      </p:sp>
      <p:sp>
        <p:nvSpPr>
          <p:cNvPr id="2" name="">
            <a:extLst xmlns:a="http://schemas.openxmlformats.org/drawingml/2006/main">
              <a:ext uri="{FF2B5EF4-FFF2-40B4-BE49-F238E27FC236}">
                <a16:creationId xmlns:a16="http://schemas.microsoft.com/office/drawing/2014/main" id="{59096A88-F35D-4775-AB95-C949313F6A09}"/>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17</a:t>
            </a:r>
          </a:p>
        </p:txBody>
      </p:sp>
      <p:sp>
        <p:nvSpPr>
          <p:cNvPr id="3" name="">
            <a:extLst xmlns:a="http://schemas.openxmlformats.org/drawingml/2006/main">
              <a:ext uri="{FF2B5EF4-FFF2-40B4-BE49-F238E27FC236}">
                <a16:creationId xmlns:a16="http://schemas.microsoft.com/office/drawing/2014/main" id="{F7F73FBF-D0B6-4873-874C-9B15FEE85332}"/>
              </a:ext>
            </a:extLst>
          </p:cNvPr>
          <p:cNvSpPr>
            <a:spLocks xmlns:a="http://schemas.openxmlformats.org/drawingml/2006/main" noGrp="1"/>
          </p:cNvSpPr>
          <p:nvPr/>
        </p:nvSpPr>
        <p:spPr>
          <a:xfrm xmlns:a="http://schemas.openxmlformats.org/drawingml/2006/main">
            <a:off x="666750" y="1952625"/>
            <a:ext cx="3314700"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1. Discovery</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Approve design</a:t>
            </a:r>
          </a:p>
        </p:txBody>
      </p:sp>
      <p:sp>
        <p:nvSpPr>
          <p:cNvPr id="4" name="">
            <a:extLst xmlns:a="http://schemas.openxmlformats.org/drawingml/2006/main">
              <a:ext uri="{FF2B5EF4-FFF2-40B4-BE49-F238E27FC236}">
                <a16:creationId xmlns:a16="http://schemas.microsoft.com/office/drawing/2014/main" id="{58E19C93-34FC-4BAE-AB60-8511147BE536}"/>
              </a:ext>
            </a:extLst>
          </p:cNvPr>
          <p:cNvSpPr>
            <a:spLocks xmlns:a="http://schemas.openxmlformats.org/drawingml/2006/main" noGrp="1"/>
          </p:cNvSpPr>
          <p:nvPr/>
        </p:nvSpPr>
        <p:spPr>
          <a:xfrm xmlns:a="http://schemas.openxmlformats.org/drawingml/2006/main">
            <a:off x="4438650" y="1952625"/>
            <a:ext cx="3314700"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2. Foundation</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Accounts, network, EKS</a:t>
            </a:r>
          </a:p>
        </p:txBody>
      </p:sp>
      <p:sp>
        <p:nvSpPr>
          <p:cNvPr id="5" name="">
            <a:extLst xmlns:a="http://schemas.openxmlformats.org/drawingml/2006/main">
              <a:ext uri="{FF2B5EF4-FFF2-40B4-BE49-F238E27FC236}">
                <a16:creationId xmlns:a16="http://schemas.microsoft.com/office/drawing/2014/main" id="{B839F038-9EC7-4274-885B-772E0331B4D4}"/>
              </a:ext>
            </a:extLst>
          </p:cNvPr>
          <p:cNvSpPr>
            <a:spLocks xmlns:a="http://schemas.openxmlformats.org/drawingml/2006/main" noGrp="1"/>
          </p:cNvSpPr>
          <p:nvPr/>
        </p:nvSpPr>
        <p:spPr>
          <a:xfrm xmlns:a="http://schemas.openxmlformats.org/drawingml/2006/main">
            <a:off x="8210550" y="1952625"/>
            <a:ext cx="3314700" cy="1066800"/>
          </a:xfrm>
          <a:prstGeom xmlns:a="http://schemas.openxmlformats.org/drawingml/2006/main" prst="rect">
            <a:avLst/>
          </a:prstGeom>
          <a:solidFill xmlns:a="http://schemas.openxmlformats.org/drawingml/2006/main">
            <a:srgbClr val="EAF5F4"/>
          </a:solidFill>
          <a:ln xmlns:a="http://schemas.openxmlformats.org/drawingml/2006/main" w="14288">
            <a:solidFill>
              <a:srgbClr val="087F83"/>
            </a:solidFill>
          </a:ln>
        </p:spPr>
        <p:txBody>
          <a:bodyPr xmlns:a="http://schemas.openxmlformats.org/drawingml/2006/main">
            <a:noAutofit/>
          </a:bodyPr>
          <a:lstStyle xmlns:a="http://schemas.openxmlformats.org/drawingml/2006/main"/>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3. Migration</a:t>
            </a:r>
          </a:p>
          <a:p xmlns:a="http://schemas.openxmlformats.org/drawingml/2006/main">
            <a:pPr>
              <a:defRPr sz="1875" b="0">
                <a:solidFill>
                  <a:srgbClr val="18364A"/>
                </a:solidFill>
                <a:latin typeface="Helvetica Neue"/>
                <a:ea typeface="Helvetica Neue"/>
                <a:cs typeface="Helvetica Neue"/>
              </a:defRPr>
            </a:pPr>
            <a:r>
              <a:rPr sz="1875" b="0">
                <a:solidFill>
                  <a:srgbClr val="18364A"/>
                </a:solidFill>
                <a:latin typeface="Helvetica Neue"/>
                <a:ea typeface="Helvetica Neue"/>
                <a:cs typeface="Helvetica Neue"/>
              </a:rPr>
              <a:t>Pilot and handover</a:t>
            </a:r>
          </a:p>
        </p:txBody>
      </p:sp>
      <p:cxnSp>
        <p:nvCxnSpPr>
          <p:cNvPr id="16" name=""/>
          <p:cNvCxnSpPr>
            <a:stCxn xmlns:a="http://schemas.openxmlformats.org/drawingml/2006/main" id="3" idx="3"/>
            <a:endCxn xmlns:a="http://schemas.openxmlformats.org/drawingml/2006/main" id="4" idx="1"/>
          </p:cNvCxnSpPr>
          <p:nvPr/>
        </p:nvCxnSpPr>
        <p:spPr>
          <a:xfrm xmlns:a="http://schemas.openxmlformats.org/drawingml/2006/main">
            <a:off x="3981450" y="2486025"/>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a:off x="7753350" y="2486025"/>
            <a:ext cx="457200" cy="0"/>
          </a:xfrm>
          <a:prstGeom xmlns:a="http://schemas.openxmlformats.org/drawingml/2006/main" prst="straightConnector1">
            <a:avLst/>
          </a:prstGeom>
          <a:ln xmlns:a="http://schemas.openxmlformats.org/drawingml/2006/main" w="23813">
            <a:solidFill>
              <a:srgbClr val="087F83"/>
            </a:solidFill>
            <a:tailEnd type="triangle" w="med" len="med"/>
          </a:ln>
        </p:spPr>
      </p:cxnSp>
      <p:sp>
        <p:nvSpPr>
          <p:cNvPr id="8" name="">
            <a:extLst xmlns:a="http://schemas.openxmlformats.org/drawingml/2006/main">
              <a:ext uri="{FF2B5EF4-FFF2-40B4-BE49-F238E27FC236}">
                <a16:creationId xmlns:a16="http://schemas.microsoft.com/office/drawing/2014/main" id="{0CD8453B-9FAB-4E37-BB40-EE255C3AE3B7}"/>
              </a:ext>
            </a:extLst>
          </p:cNvPr>
          <p:cNvSpPr>
            <a:spLocks xmlns:a="http://schemas.openxmlformats.org/drawingml/2006/main" noGrp="1"/>
          </p:cNvSpPr>
          <p:nvPr/>
        </p:nvSpPr>
        <p:spPr>
          <a:xfrm xmlns:a="http://schemas.openxmlformats.org/drawingml/2006/main">
            <a:off x="619125" y="39052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A"/>
                </a:solidFill>
                <a:latin typeface="Helvetica Neue"/>
                <a:ea typeface="Helvetica Neue"/>
                <a:cs typeface="Helvetica Neue"/>
              </a:defRPr>
            </a:pPr>
            <a:r>
              <a:rPr sz="2025" b="0">
                <a:solidFill>
                  <a:srgbClr val="18364A"/>
                </a:solidFill>
                <a:latin typeface="Helvetica Neue"/>
                <a:ea typeface="Helvetica Neue"/>
                <a:cs typeface="Helvetica Neue"/>
              </a:rPr>
              <a:t>Acceptance: isolation tests, successful releases and recovery game day</a:t>
            </a:r>
          </a:p>
        </p:txBody>
      </p:sp>
      <p:sp>
        <p:nvSpPr>
          <p:cNvPr id="9" name="">
            <a:extLst xmlns:a="http://schemas.openxmlformats.org/drawingml/2006/main">
              <a:ext uri="{FF2B5EF4-FFF2-40B4-BE49-F238E27FC236}">
                <a16:creationId xmlns:a16="http://schemas.microsoft.com/office/drawing/2014/main" id="{33FA988D-30A7-44D9-8CC6-132293D6D250}"/>
              </a:ext>
            </a:extLst>
          </p:cNvPr>
          <p:cNvSpPr>
            <a:spLocks xmlns:a="http://schemas.openxmlformats.org/drawingml/2006/main" noGrp="1"/>
          </p:cNvSpPr>
          <p:nvPr/>
        </p:nvSpPr>
        <p:spPr>
          <a:xfrm xmlns:a="http://schemas.openxmlformats.org/drawingml/2006/main">
            <a:off x="619125" y="46482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A"/>
                </a:solidFill>
                <a:latin typeface="Helvetica Neue"/>
                <a:ea typeface="Helvetica Neue"/>
                <a:cs typeface="Helvetica Neue"/>
              </a:defRPr>
            </a:pPr>
            <a:r>
              <a:rPr sz="2025" b="0">
                <a:solidFill>
                  <a:srgbClr val="18364A"/>
                </a:solidFill>
                <a:latin typeface="Helvetica Neue"/>
                <a:ea typeface="Helvetica Neue"/>
                <a:cs typeface="Helvetica Neue"/>
              </a:rPr>
              <a:t>Target: common-incident MTTR under 15 minutes, measured in tests</a:t>
            </a:r>
          </a:p>
        </p:txBody>
      </p:sp>
      <p:sp>
        <p:nvSpPr>
          <p:cNvPr id="10" name="">
            <a:extLst xmlns:a="http://schemas.openxmlformats.org/drawingml/2006/main">
              <a:ext uri="{FF2B5EF4-FFF2-40B4-BE49-F238E27FC236}">
                <a16:creationId xmlns:a16="http://schemas.microsoft.com/office/drawing/2014/main" id="{CB1CADE8-81BF-47D4-946A-651FAD43B65D}"/>
              </a:ext>
            </a:extLst>
          </p:cNvPr>
          <p:cNvSpPr>
            <a:spLocks xmlns:a="http://schemas.openxmlformats.org/drawingml/2006/main" noGrp="1"/>
          </p:cNvSpPr>
          <p:nvPr/>
        </p:nvSpPr>
        <p:spPr>
          <a:xfrm xmlns:a="http://schemas.openxmlformats.org/drawingml/2006/main">
            <a:off x="619125" y="55626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3"/>
                </a:solidFill>
                <a:latin typeface="Helvetica Neue"/>
                <a:ea typeface="Helvetica Neue"/>
                <a:cs typeface="Helvetica Neue"/>
              </a:defRPr>
            </a:pPr>
            <a:r>
              <a:rPr sz="2025" b="1">
                <a:solidFill>
                  <a:srgbClr val="087F83"/>
                </a:solidFill>
                <a:latin typeface="Helvetica Neue"/>
                <a:ea typeface="Helvetica Neue"/>
                <a:cs typeface="Helvetica Neue"/>
              </a:rPr>
              <a:t>Weekly client review, named owners and written change approval</a:t>
            </a:r>
          </a:p>
        </p:txBody>
      </p:sp>
    </p:spTree>
    <p:extLst>
      <p:ext uri="{BB962C8B-B14F-4D97-AF65-F5344CB8AC3E}">
        <p14:creationId xmlns:p14="http://schemas.microsoft.com/office/powerpoint/2010/main" val="106329371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00ACB62-5D46-4DF0-B629-4EAF1F5C2ADD}"/>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Appendix A: TGW attachment sample</a:t>
            </a:r>
          </a:p>
        </p:txBody>
      </p:sp>
      <p:sp>
        <p:nvSpPr>
          <p:cNvPr id="2" name="">
            <a:extLst xmlns:a="http://schemas.openxmlformats.org/drawingml/2006/main">
              <a:ext uri="{FF2B5EF4-FFF2-40B4-BE49-F238E27FC236}">
                <a16:creationId xmlns:a16="http://schemas.microsoft.com/office/drawing/2014/main" id="{258D31CC-B865-467F-B4C1-2A4E22E4605F}"/>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18</a:t>
            </a:r>
          </a:p>
        </p:txBody>
      </p:sp>
      <p:sp>
        <p:nvSpPr>
          <p:cNvPr id="3" name="">
            <a:extLst xmlns:a="http://schemas.openxmlformats.org/drawingml/2006/main">
              <a:ext uri="{FF2B5EF4-FFF2-40B4-BE49-F238E27FC236}">
                <a16:creationId xmlns:a16="http://schemas.microsoft.com/office/drawing/2014/main" id="{136617F1-747F-4C9A-9BD2-2923DD6E107A}"/>
              </a:ext>
            </a:extLst>
          </p:cNvPr>
          <p:cNvSpPr>
            <a:spLocks xmlns:a="http://schemas.openxmlformats.org/drawingml/2006/main" noGrp="1"/>
          </p:cNvSpPr>
          <p:nvPr/>
        </p:nvSpPr>
        <p:spPr>
          <a:xfrm xmlns:a="http://schemas.openxmlformats.org/drawingml/2006/main">
            <a:off x="666750" y="1381125"/>
            <a:ext cx="10858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resource "aws_ec2_transit_gateway_vpc_attachment" "spoke" {</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provider           = aws.spoke</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transit_gateway_id = var.tgw_id</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vpc_id             = var.vpc_id</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subnet_ids         = var.transit_subnet_ids</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a:t>
            </a:r>
          </a:p>
          <a:p xmlns:a="http://schemas.openxmlformats.org/drawingml/2006/main">
            <a:r>
              <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resource "aws_ec2_transit_gateway_route_table_association" "spoke" {</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provider                       = aws.hub</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transit_gateway_attachment_id   = aws_ec2_transit_gateway_vpc_attachment.spoke.id</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transit_gateway_route_table_id  = var.spoke_route_table_id</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a:t>
            </a:r>
          </a:p>
        </p:txBody>
      </p:sp>
      <p:sp>
        <p:nvSpPr>
          <p:cNvPr id="4" name="">
            <a:extLst xmlns:a="http://schemas.openxmlformats.org/drawingml/2006/main">
              <a:ext uri="{FF2B5EF4-FFF2-40B4-BE49-F238E27FC236}">
                <a16:creationId xmlns:a16="http://schemas.microsoft.com/office/drawing/2014/main" id="{F584AF08-2A74-4AAE-AA58-7D0E8434BEC4}"/>
              </a:ext>
            </a:extLst>
          </p:cNvPr>
          <p:cNvSpPr>
            <a:spLocks xmlns:a="http://schemas.openxmlformats.org/drawingml/2006/main" noGrp="1"/>
          </p:cNvSpPr>
          <p:nvPr/>
        </p:nvSpPr>
        <p:spPr>
          <a:xfrm xmlns:a="http://schemas.openxmlformats.org/drawingml/2006/main">
            <a:off x="666750" y="56197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F83"/>
                </a:solidFill>
                <a:latin typeface="Helvetica Neue"/>
                <a:ea typeface="Helvetica Neue"/>
                <a:cs typeface="Helvetica Neue"/>
              </a:defRPr>
            </a:pPr>
            <a:r>
              <a:rPr sz="1800" b="0">
                <a:solidFill>
                  <a:srgbClr val="087F83"/>
                </a:solidFill>
                <a:latin typeface="Helvetica Neue"/>
                <a:ea typeface="Helvetica Neue"/>
                <a:cs typeface="Helvetica Neue"/>
              </a:rPr>
              <a:t>Context required: RAM share, accepted attachment and explicit routing controls.</a:t>
            </a:r>
          </a:p>
        </p:txBody>
      </p:sp>
    </p:spTree>
    <p:extLst>
      <p:ext uri="{BB962C8B-B14F-4D97-AF65-F5344CB8AC3E}">
        <p14:creationId xmlns:p14="http://schemas.microsoft.com/office/powerpoint/2010/main" val="15699416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7EABFCB-E878-4011-8037-A5B328584A38}"/>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Appendix B: Linux + Windows groups</a:t>
            </a:r>
          </a:p>
        </p:txBody>
      </p:sp>
      <p:sp>
        <p:nvSpPr>
          <p:cNvPr id="2" name="">
            <a:extLst xmlns:a="http://schemas.openxmlformats.org/drawingml/2006/main">
              <a:ext uri="{FF2B5EF4-FFF2-40B4-BE49-F238E27FC236}">
                <a16:creationId xmlns:a16="http://schemas.microsoft.com/office/drawing/2014/main" id="{B529437F-C6FA-4E94-9D96-AEF94F89DFF1}"/>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19</a:t>
            </a:r>
          </a:p>
        </p:txBody>
      </p:sp>
      <p:sp>
        <p:nvSpPr>
          <p:cNvPr id="3" name="">
            <a:extLst xmlns:a="http://schemas.openxmlformats.org/drawingml/2006/main">
              <a:ext uri="{FF2B5EF4-FFF2-40B4-BE49-F238E27FC236}">
                <a16:creationId xmlns:a16="http://schemas.microsoft.com/office/drawing/2014/main" id="{5F21D49F-5ED4-4F3D-963D-213CD36DC01C}"/>
              </a:ext>
            </a:extLst>
          </p:cNvPr>
          <p:cNvSpPr>
            <a:spLocks xmlns:a="http://schemas.openxmlformats.org/drawingml/2006/main" noGrp="1"/>
          </p:cNvSpPr>
          <p:nvPr/>
        </p:nvSpPr>
        <p:spPr>
          <a:xfrm xmlns:a="http://schemas.openxmlformats.org/drawingml/2006/main">
            <a:off x="666750" y="1381125"/>
            <a:ext cx="10858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resource "aws_eks_node_group" "os" {</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for_each        = toset(["linux", "windows"])</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cluster_name    = var.cluster_name</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node_group_name = each.key</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node_role_arn   = var.node_role_arn</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subnet_ids      = var.private_subnet_ids</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ami_type        = each.key == "linux" ? "AL2023_x86_64_STANDARD" : "WINDOWS_CORE_2022_x86_64"</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instance_types  = [var.instance_type_by_os[each.key]]</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scaling_config {</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desired_size = 2</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min_size     = 2</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max_size     = 4</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a:t>
            </a:r>
          </a:p>
        </p:txBody>
      </p:sp>
      <p:sp>
        <p:nvSpPr>
          <p:cNvPr id="4" name="">
            <a:extLst xmlns:a="http://schemas.openxmlformats.org/drawingml/2006/main">
              <a:ext uri="{FF2B5EF4-FFF2-40B4-BE49-F238E27FC236}">
                <a16:creationId xmlns:a16="http://schemas.microsoft.com/office/drawing/2014/main" id="{97B11E83-D18C-4753-95ED-75F283CBE867}"/>
              </a:ext>
            </a:extLst>
          </p:cNvPr>
          <p:cNvSpPr>
            <a:spLocks xmlns:a="http://schemas.openxmlformats.org/drawingml/2006/main" noGrp="1"/>
          </p:cNvSpPr>
          <p:nvPr/>
        </p:nvSpPr>
        <p:spPr>
          <a:xfrm xmlns:a="http://schemas.openxmlformats.org/drawingml/2006/main">
            <a:off x="666750" y="56197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F83"/>
                </a:solidFill>
                <a:latin typeface="Helvetica Neue"/>
                <a:ea typeface="Helvetica Neue"/>
                <a:cs typeface="Helvetica Neue"/>
              </a:defRPr>
            </a:pPr>
            <a:r>
              <a:rPr sz="1800" b="0">
                <a:solidFill>
                  <a:srgbClr val="087F83"/>
                </a:solidFill>
                <a:latin typeface="Helvetica Neue"/>
                <a:ea typeface="Helvetica Neue"/>
                <a:cs typeface="Helvetica Neue"/>
              </a:rPr>
              <a:t>Existing EKS cluster, IAM, Windows IPAM and node authorization required.</a:t>
            </a:r>
          </a:p>
        </p:txBody>
      </p:sp>
    </p:spTree>
    <p:extLst>
      <p:ext uri="{BB962C8B-B14F-4D97-AF65-F5344CB8AC3E}">
        <p14:creationId xmlns:p14="http://schemas.microsoft.com/office/powerpoint/2010/main" val="74003369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8BD733-0A53-47EB-A236-10DC4681CCEF}"/>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Appendix C: Linux diagnostic sample</a:t>
            </a:r>
          </a:p>
        </p:txBody>
      </p:sp>
      <p:sp>
        <p:nvSpPr>
          <p:cNvPr id="2" name="">
            <a:extLst xmlns:a="http://schemas.openxmlformats.org/drawingml/2006/main">
              <a:ext uri="{FF2B5EF4-FFF2-40B4-BE49-F238E27FC236}">
                <a16:creationId xmlns:a16="http://schemas.microsoft.com/office/drawing/2014/main" id="{B6C8F3AE-1C7C-4014-A810-AA8BA76B86FF}"/>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20</a:t>
            </a:r>
          </a:p>
        </p:txBody>
      </p:sp>
      <p:sp>
        <p:nvSpPr>
          <p:cNvPr id="3" name="">
            <a:extLst xmlns:a="http://schemas.openxmlformats.org/drawingml/2006/main">
              <a:ext uri="{FF2B5EF4-FFF2-40B4-BE49-F238E27FC236}">
                <a16:creationId xmlns:a16="http://schemas.microsoft.com/office/drawing/2014/main" id="{49E9F966-50DD-478C-B3EF-1D079CC6F3E3}"/>
              </a:ext>
            </a:extLst>
          </p:cNvPr>
          <p:cNvSpPr>
            <a:spLocks xmlns:a="http://schemas.openxmlformats.org/drawingml/2006/main" noGrp="1"/>
          </p:cNvSpPr>
          <p:nvPr/>
        </p:nvSpPr>
        <p:spPr>
          <a:xfrm xmlns:a="http://schemas.openxmlformats.org/drawingml/2006/main">
            <a:off x="666750" y="1381125"/>
            <a:ext cx="10858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#!/usr/bin/env bash</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set -uo pipefail</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service="nginx"  # approved service name</a:t>
            </a:r>
          </a:p>
          <a:p xmlns:a="http://schemas.openxmlformats.org/drawingml/2006/main">
            <a:r>
              <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timeout 10s systemctl is-active "$service" || true</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timeout 10s journalctl -u "$service" --since "15 minutes ago" \</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--no-pager -n 100 || true</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free -m</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df -hP /</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df -iP /</a:t>
            </a:r>
          </a:p>
        </p:txBody>
      </p:sp>
      <p:sp>
        <p:nvSpPr>
          <p:cNvPr id="4" name="">
            <a:extLst xmlns:a="http://schemas.openxmlformats.org/drawingml/2006/main">
              <a:ext uri="{FF2B5EF4-FFF2-40B4-BE49-F238E27FC236}">
                <a16:creationId xmlns:a16="http://schemas.microsoft.com/office/drawing/2014/main" id="{946318B4-9939-49D6-B4C7-16C8E66F0FC7}"/>
              </a:ext>
            </a:extLst>
          </p:cNvPr>
          <p:cNvSpPr>
            <a:spLocks xmlns:a="http://schemas.openxmlformats.org/drawingml/2006/main" noGrp="1"/>
          </p:cNvSpPr>
          <p:nvPr/>
        </p:nvSpPr>
        <p:spPr>
          <a:xfrm xmlns:a="http://schemas.openxmlformats.org/drawingml/2006/main">
            <a:off x="666750" y="56197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F83"/>
                </a:solidFill>
                <a:latin typeface="Helvetica Neue"/>
                <a:ea typeface="Helvetica Neue"/>
                <a:cs typeface="Helvetica Neue"/>
              </a:defRPr>
            </a:pPr>
            <a:r>
              <a:rPr sz="1800" b="0">
                <a:solidFill>
                  <a:srgbClr val="087F83"/>
                </a:solidFill>
                <a:latin typeface="Helvetica Neue"/>
                <a:ea typeface="Helvetica Neue"/>
                <a:cs typeface="Helvetica Neue"/>
              </a:rPr>
              <a:t>Read-only excerpt. Send bounded output to encrypted, access-controlled evidence storage.</a:t>
            </a:r>
          </a:p>
        </p:txBody>
      </p:sp>
    </p:spTree>
    <p:extLst>
      <p:ext uri="{BB962C8B-B14F-4D97-AF65-F5344CB8AC3E}">
        <p14:creationId xmlns:p14="http://schemas.microsoft.com/office/powerpoint/2010/main" val="128363429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589603-C91D-45C3-87C8-E0903E8365B3}"/>
              </a:ext>
            </a:extLst>
          </p:cNvPr>
          <p:cNvSpPr>
            <a:spLocks xmlns:a="http://schemas.openxmlformats.org/drawingml/2006/main" noGrp="1"/>
          </p:cNvSpPr>
          <p:nvPr/>
        </p:nvSpPr>
        <p:spPr>
          <a:xfrm xmlns:a="http://schemas.openxmlformats.org/drawingml/2006/main">
            <a:off x="571500" y="36195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64A"/>
                </a:solidFill>
                <a:latin typeface="Helvetica Neue"/>
                <a:ea typeface="Helvetica Neue"/>
                <a:cs typeface="Helvetica Neue"/>
              </a:defRPr>
            </a:pPr>
            <a:r>
              <a:rPr sz="3225" b="1">
                <a:solidFill>
                  <a:srgbClr val="18364A"/>
                </a:solidFill>
                <a:latin typeface="Helvetica Neue"/>
                <a:ea typeface="Helvetica Neue"/>
                <a:cs typeface="Helvetica Neue"/>
              </a:rPr>
              <a:t>Appendix D: Windows diagnostic sample</a:t>
            </a:r>
          </a:p>
        </p:txBody>
      </p:sp>
      <p:sp>
        <p:nvSpPr>
          <p:cNvPr id="2" name="">
            <a:extLst xmlns:a="http://schemas.openxmlformats.org/drawingml/2006/main">
              <a:ext uri="{FF2B5EF4-FFF2-40B4-BE49-F238E27FC236}">
                <a16:creationId xmlns:a16="http://schemas.microsoft.com/office/drawing/2014/main" id="{9A55FDFF-FE00-4C75-BC40-866F70918158}"/>
              </a:ext>
            </a:extLst>
          </p:cNvPr>
          <p:cNvSpPr>
            <a:spLocks xmlns:a="http://schemas.openxmlformats.org/drawingml/2006/main" noGrp="1"/>
          </p:cNvSpPr>
          <p:nvPr/>
        </p:nvSpPr>
        <p:spPr>
          <a:xfrm xmlns:a="http://schemas.openxmlformats.org/drawingml/2006/main">
            <a:off x="11049000" y="63341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568"/>
                </a:solidFill>
                <a:latin typeface="Helvetica Neue"/>
                <a:ea typeface="Helvetica Neue"/>
                <a:cs typeface="Helvetica Neue"/>
              </a:defRPr>
            </a:pPr>
            <a:r>
              <a:rPr sz="1350" b="0">
                <a:solidFill>
                  <a:srgbClr val="415568"/>
                </a:solidFill>
                <a:latin typeface="Helvetica Neue"/>
                <a:ea typeface="Helvetica Neue"/>
                <a:cs typeface="Helvetica Neue"/>
              </a:rPr>
              <a:t>21</a:t>
            </a:r>
          </a:p>
        </p:txBody>
      </p:sp>
      <p:sp>
        <p:nvSpPr>
          <p:cNvPr id="3" name="">
            <a:extLst xmlns:a="http://schemas.openxmlformats.org/drawingml/2006/main">
              <a:ext uri="{FF2B5EF4-FFF2-40B4-BE49-F238E27FC236}">
                <a16:creationId xmlns:a16="http://schemas.microsoft.com/office/drawing/2014/main" id="{1879FEE7-7BD4-42C6-937D-B782279CA228}"/>
              </a:ext>
            </a:extLst>
          </p:cNvPr>
          <p:cNvSpPr>
            <a:spLocks xmlns:a="http://schemas.openxmlformats.org/drawingml/2006/main" noGrp="1"/>
          </p:cNvSpPr>
          <p:nvPr/>
        </p:nvSpPr>
        <p:spPr>
          <a:xfrm xmlns:a="http://schemas.openxmlformats.org/drawingml/2006/main">
            <a:off x="666750" y="1381125"/>
            <a:ext cx="10858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$ErrorActionPreference = "Continue"</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Get-Service -Name W3SVC -ErrorAction SilentlyContinue</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Get-Volume | Select-Object DriveLetter, SizeRemaining, Size</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Get-WinEvent -FilterHashtable @{</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LogName = "Application"</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StartTime = (Get-Date).AddMinutes(-15)</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-MaxEvents 20 -ErrorAction SilentlyContinue |</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Select-Object TimeCreated, Id, LevelDisplayName, Message</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if (Get-Module -ListAvailable WebAdministration) {</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Import-Module WebAdministration</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  Get-ChildItem IIS:\AppPools | Select-Object Name, State</a:t>
            </a:r>
          </a:p>
          <a:p xmlns:a="http://schemas.openxmlformats.org/drawingml/2006/main">
            <a:pPr>
              <a:defRPr sz="1725" b="0">
                <a:solidFill>
                  <a:srgbClr val="18364A"/>
                </a:solidFill>
                <a:latin typeface="Helvetica Neue"/>
                <a:ea typeface="Helvetica Neue"/>
                <a:cs typeface="Helvetica Neue"/>
              </a:defRPr>
            </a:pPr>
            <a:r>
              <a:rPr sz="1725" b="0">
                <a:solidFill>
                  <a:srgbClr val="18364A"/>
                </a:solidFill>
                <a:latin typeface="Helvetica Neue"/>
                <a:ea typeface="Helvetica Neue"/>
                <a:cs typeface="Helvetica Neue"/>
              </a:rPr>
              <a:t>}</a:t>
            </a:r>
          </a:p>
        </p:txBody>
      </p:sp>
      <p:sp>
        <p:nvSpPr>
          <p:cNvPr id="4" name="">
            <a:extLst xmlns:a="http://schemas.openxmlformats.org/drawingml/2006/main">
              <a:ext uri="{FF2B5EF4-FFF2-40B4-BE49-F238E27FC236}">
                <a16:creationId xmlns:a16="http://schemas.microsoft.com/office/drawing/2014/main" id="{BB621589-78AD-4C07-8E84-77DF3EC9C8C2}"/>
              </a:ext>
            </a:extLst>
          </p:cNvPr>
          <p:cNvSpPr>
            <a:spLocks xmlns:a="http://schemas.openxmlformats.org/drawingml/2006/main" noGrp="1"/>
          </p:cNvSpPr>
          <p:nvPr/>
        </p:nvSpPr>
        <p:spPr>
          <a:xfrm xmlns:a="http://schemas.openxmlformats.org/drawingml/2006/main">
            <a:off x="666750" y="56197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87F83"/>
                </a:solidFill>
                <a:latin typeface="Helvetica Neue"/>
                <a:ea typeface="Helvetica Neue"/>
                <a:cs typeface="Helvetica Neue"/>
              </a:defRPr>
            </a:pPr>
            <a:r>
              <a:rPr sz="1800" b="0">
                <a:solidFill>
                  <a:srgbClr val="087F83"/>
                </a:solidFill>
                <a:latin typeface="Helvetica Neue"/>
                <a:ea typeface="Helvetica Neue"/>
                <a:cs typeface="Helvetica Neue"/>
              </a:rPr>
              <a:t>Read-only excerpt. SSM timeout and evidence redaction are set in the wrapper.</a:t>
            </a:r>
          </a:p>
        </p:txBody>
      </p:sp>
    </p:spTree>
    <p:extLst>
      <p:ext uri="{BB962C8B-B14F-4D97-AF65-F5344CB8AC3E}">
        <p14:creationId xmlns:p14="http://schemas.microsoft.com/office/powerpoint/2010/main" val="17793326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2026-09-18T06:19:04.9480000Z</dcterms:created>
  <dcterms:modified xsi:type="dcterms:W3CDTF">2026-09-18T06:19:04.9480000Z</dcterms:modified>
</coreProperties>
</file>